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327" r:id="rId10"/>
    <p:sldId id="341" r:id="rId11"/>
    <p:sldId id="328" r:id="rId12"/>
    <p:sldId id="342" r:id="rId13"/>
    <p:sldId id="329" r:id="rId14"/>
    <p:sldId id="340" r:id="rId15"/>
    <p:sldId id="308" r:id="rId16"/>
    <p:sldId id="291" r:id="rId17"/>
    <p:sldId id="292" r:id="rId18"/>
    <p:sldId id="295" r:id="rId19"/>
    <p:sldId id="294" r:id="rId20"/>
    <p:sldId id="293" r:id="rId21"/>
    <p:sldId id="321" r:id="rId22"/>
    <p:sldId id="300" r:id="rId23"/>
    <p:sldId id="330" r:id="rId24"/>
    <p:sldId id="301" r:id="rId25"/>
    <p:sldId id="304" r:id="rId26"/>
    <p:sldId id="302" r:id="rId27"/>
    <p:sldId id="303" r:id="rId28"/>
    <p:sldId id="346" r:id="rId29"/>
    <p:sldId id="348" r:id="rId30"/>
    <p:sldId id="344" r:id="rId31"/>
    <p:sldId id="347" r:id="rId32"/>
    <p:sldId id="331" r:id="rId33"/>
    <p:sldId id="333" r:id="rId34"/>
    <p:sldId id="350" r:id="rId35"/>
    <p:sldId id="349" r:id="rId36"/>
    <p:sldId id="324" r:id="rId37"/>
    <p:sldId id="334" r:id="rId38"/>
    <p:sldId id="332" r:id="rId39"/>
    <p:sldId id="326" r:id="rId40"/>
    <p:sldId id="325" r:id="rId41"/>
    <p:sldId id="339" r:id="rId42"/>
    <p:sldId id="335" r:id="rId43"/>
    <p:sldId id="337" r:id="rId44"/>
    <p:sldId id="336" r:id="rId45"/>
    <p:sldId id="338" r:id="rId46"/>
    <p:sldId id="319" r:id="rId47"/>
    <p:sldId id="320" r:id="rId4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BFBFB"/>
    <a:srgbClr val="009AD0"/>
    <a:srgbClr val="0000FF"/>
    <a:srgbClr val="BDFFFF"/>
    <a:srgbClr val="E7FCFD"/>
    <a:srgbClr val="C800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4" autoAdjust="0"/>
    <p:restoredTop sz="75163" autoAdjust="0"/>
  </p:normalViewPr>
  <p:slideViewPr>
    <p:cSldViewPr snapToGrid="0">
      <p:cViewPr varScale="1">
        <p:scale>
          <a:sx n="83" d="100"/>
          <a:sy n="83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35147-FB95-1B1B-694B-BD05C2F27B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8EBB3-E52E-D382-E7EE-DF17ADCD32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F916F7-DB99-4050-9DFC-8E55980F1537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528BB86-B886-9088-853B-C8FADF0A5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250A8E-C53B-1B9F-72CA-93B143E65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4C079-0A1D-3171-9253-DC08D31690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34495-F10A-AC4B-0EE6-464EE7F6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ED0ADD-0D87-4BC9-9904-53CBED643B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3405EBB-30A6-0AB0-6C89-243D7B71FF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A0D4751A-6E24-4AB9-0696-82A01B9626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C1A64A05-793F-AA92-AE10-97F741F92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3030001-6EC4-468B-B38F-D711F55451FF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52CCA17-1296-9C6F-E38D-B991B859F3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E87819EA-4E60-268A-BFD9-82CE1243A3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38090AB-2124-0FD3-7895-A38D2C55A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52EDA47-E047-48AE-A921-02502483BA67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CF3AD1EA-67DF-E652-0751-E17B069547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591C06F0-D95B-BC80-4426-4F904B3CBA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Here, the index or ‘key’ is the ascii code for the letter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5645E16-5C6D-84F9-34BE-554D2618F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2E05FA0-A182-4BB5-863E-0BA27FF3DE0F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B98BEC2-1C31-E118-1486-04F1F8850E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A2A484F1-51C6-BE95-83F7-07C873A897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There may be more than 1 item with the same remainder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09638A36-8A82-606F-54F9-7A4E7ADE0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A5F8A8-B87E-4C9D-AA20-3582D025B155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CBBF427-29DF-4EF1-C0C3-DF131F9986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0D23F1D-3E00-B1D5-FF9D-5C59566A22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C836D5C3-12EF-71C8-5E3E-65689DAB9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8CEF0D2-B6A1-44BF-B329-4E0FA018E23D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1F00CC4F-5588-3379-2ED0-C2581467FC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CEB81CBC-02E1-38D0-E79D-EC2F90373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92C9BFDB-3622-A4D9-06DE-DA5D0E6A2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BB53662-813C-43AF-B15D-AC8BC004D933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C2618947-558A-B0C3-6BBB-AE9B57CAB9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CCDBCE07-1844-7508-331A-A85AB967C8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This is the function for Java 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9EE0DFEA-EE26-C4AA-2921-933DFF825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F75C442-7650-4DDD-83DC-EAF483130317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3BFC45B-D3B4-4BF2-8A1E-676C622B52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47D287C6-1BB6-07C6-C74A-7FA4D8E615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510774D-5E44-D9D4-3F31-E7BA7B2CE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8D8B-6FA3-0A6E-BD52-1E8D9682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52F1ADC5-C610-84B3-66E7-C2F198F155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7E44AE1-BD18-618B-84A2-B79EEEB0DB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24D008E-365A-6B32-CEC9-2D7DBB4C7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4162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7B93-A875-7537-6AF4-D113B015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38D75E44-65EE-68E2-E7DD-3C7BB9EE97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F7CFB1B7-8733-F418-1BEB-866D644306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DAA7840-3BDF-C8AB-4EFC-78F565F01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974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2A17E-225A-DFEF-58B8-05AE069E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E112B795-19E5-13DC-7974-268234F689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14D7CA17-4A84-01CB-F797-7041DF296C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BB79116-A8BC-F78B-A883-1B0F7B219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557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BFDE-F2E3-A1BF-5F33-3EA6C44B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A546EA6B-188D-E552-77BF-10A6EDEC6E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AF379581-E5C5-E663-37BA-9C2F10ED77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NOTE:  the hash codes are 32-bits (not 24…just trying to make this easier)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31DB40EA-387D-6DDF-824A-D783F6A50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936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A0469-77B6-341B-B864-E2817F311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382776A5-A3B4-5DB3-04A7-862521E7C0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F4DF741-7777-2758-A733-910D67B8E2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badi" panose="020B0604020104020204" pitchFamily="34" charset="0"/>
              </a:rPr>
              <a:t>^ is bitwise exclusive OR</a:t>
            </a:r>
          </a:p>
          <a:p>
            <a:r>
              <a:rPr lang="en-US" dirty="0">
                <a:latin typeface="Abadi" panose="020B0604020104020204" pitchFamily="34" charset="0"/>
              </a:rPr>
              <a:t>&gt;&gt;&gt; is unsigned right shift operation</a:t>
            </a:r>
          </a:p>
          <a:p>
            <a:endParaRPr lang="en-US" altLang="en-US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41051CB4-9F3E-EB00-AF9B-AB7305E70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3303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9355-B2B6-47FC-9A35-8821BE7F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1F0AB6AF-1102-8200-FBED-51E1AC057E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D53F7FB-B379-A52B-6A4F-C158E72D2A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badi" panose="020B0604020104020204" pitchFamily="34" charset="0"/>
              </a:rPr>
              <a:t>^ is bitwise exclusive OR</a:t>
            </a:r>
          </a:p>
          <a:p>
            <a:r>
              <a:rPr lang="en-US" b="1" dirty="0"/>
              <a:t>0 ^ 0 = 0</a:t>
            </a:r>
            <a:endParaRPr lang="en-US" dirty="0"/>
          </a:p>
          <a:p>
            <a:r>
              <a:rPr lang="en-US" b="1" dirty="0"/>
              <a:t>1 ^ 1 = 0</a:t>
            </a:r>
            <a:endParaRPr lang="en-US" dirty="0"/>
          </a:p>
          <a:p>
            <a:r>
              <a:rPr lang="en-US" b="1" dirty="0"/>
              <a:t>1 ^ 0 = 1</a:t>
            </a:r>
            <a:endParaRPr lang="en-US" dirty="0"/>
          </a:p>
          <a:p>
            <a:r>
              <a:rPr lang="en-US" b="1" dirty="0"/>
              <a:t>0 ^ 1 = 1</a:t>
            </a:r>
            <a:endParaRPr lang="en-US" dirty="0"/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&gt;&gt;&gt; is unsigned right shift operation</a:t>
            </a:r>
          </a:p>
          <a:p>
            <a:endParaRPr lang="en-US" altLang="en-US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AF74DA8-D8A5-CFE5-5033-41E4F69B1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9B38ED-0ABB-4414-B481-90349E0F789F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262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8CAB9846-47C0-A4DC-FEF0-B266292D44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60CEE144-9F30-98C5-3687-CED5D594D9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A7D4CEE5-C83C-0B4C-CB06-A5ED6D4A1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FA9C1F5-7D49-4CA4-8760-47C2589B9AC5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90E618FD-CFB0-C6AB-82BF-FE40AB146D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324E8B3F-6830-807D-6AA7-48CD853896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17BF088A-A207-C840-97B3-7C15947D0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AB7EFE0-EAFB-403A-84E9-BB78EDA6DB4D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DB92B524-EF25-6949-BDC8-A47DCD8553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D6BD133-9C6A-4D15-974A-3A816582E6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93840E7B-2BEF-6098-C2BB-D639D6A61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78D56D-4D17-41EF-ADD7-0BDF19B663DB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9B2C72E9-E5C3-C249-3063-E35B02AC2E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91D3AFA4-259E-92D4-0569-0FEB8FD9F9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07132DB-53D9-C110-E3F1-E9463D748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E87AC82-CA3E-4AED-9577-DAED4DCB18D1}" type="slidenum">
              <a:rPr lang="en-US" altLang="en-US"/>
              <a:pPr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18DF9FDE-5CA5-EBB3-9CC8-F43E60CDBC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64CF2487-A084-E087-AC1D-C47CB04E96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If john hash value is 5 – and that position was NULL – we would think John was not in the table</a:t>
            </a:r>
          </a:p>
          <a:p>
            <a:r>
              <a:rPr lang="en-US" altLang="en-US" dirty="0"/>
              <a:t>With Deleted – we know to continue looking</a:t>
            </a: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59589682-449A-84D3-729F-6B329F80B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D5A8AB4-D99A-42D8-824C-508DCE46ADBC}" type="slidenum">
              <a:rPr lang="en-US" altLang="en-US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34609561-3030-62F6-18E5-2991A6ACAC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8660E29A-8B2F-3061-E6DF-A4F6E37E9D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AC07E8F3-6861-CA3A-9112-D348D9C6E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1B6C79-B4C6-40ED-9B1C-B94E648EF974}" type="slidenum">
              <a:rPr lang="en-US" altLang="en-US"/>
              <a:pPr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030602DD-0EA9-E239-F2D8-FEB1947C9A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B3B1156D-233D-E2DE-812F-AF050EA1BF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EFC7883C-1CB5-2352-3463-E0177350B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C1BD2A5-EE5D-47BB-B59B-6F9A739061A4}" type="slidenum">
              <a:rPr lang="en-US" altLang="en-US"/>
              <a:pPr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3E88AAD8-3414-E7C4-2693-5E7DB08CB3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BF6E0983-C07C-BBE7-F5D8-BC014EEBDD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27BC5AFD-41E3-64BB-B0E0-E7987E5A4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82538E7-FB48-443C-944F-309D72F46E89}" type="slidenum">
              <a:rPr lang="en-US" altLang="en-US"/>
              <a:pPr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2ECD-6AEC-9109-A0BE-8AD06121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C6F97E9E-06EA-AF67-CE0D-92B5027164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EB6A6466-CFAB-9C97-79C3-9E55A1F3E3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7FD63DD9-94A6-0AE4-CA47-898548689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82538E7-FB48-443C-944F-309D72F46E89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661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FCC23799-2C8F-8920-E20A-781F754E11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1C70CB3D-9C7C-77BD-EF39-71C2A65050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8DA0B258-885D-F4E6-3CBB-38C68204C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8F8EC80-5224-45C0-89A5-CE53343BA8D8}" type="slidenum">
              <a:rPr lang="en-US" altLang="en-US"/>
              <a:pPr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30978E20-AB2A-717B-089C-4590131189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54A261DE-B255-0B2D-1CF5-349FCE260C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200" dirty="0"/>
              <a:t>Expected number of comparisons, c, </a:t>
            </a:r>
            <a:endParaRPr lang="en-US" altLang="en-US" dirty="0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3F2B87E6-DDA0-200A-E989-76675E54D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9917232-D557-4A62-B7C5-688E13E8E536}" type="slidenum">
              <a:rPr lang="en-US" altLang="en-US"/>
              <a:pPr/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3E801864-836D-69A5-6030-A83DE17CC2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D8723A91-75F6-18D6-13C1-285D0F653C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Values added in this order:   6, 14,  24, 20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787447CF-3035-E09B-7A3C-B7C69AB25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9CE7CC7-DAF9-4613-8684-124F33B4043C}" type="slidenum">
              <a:rPr lang="en-US" altLang="en-US"/>
              <a:pPr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5436AC3D-8508-4B9A-2480-DB1370BA9F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FA05C260-28AB-0F2C-1189-1CD612432E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Adding Values would now be in  this order:   24, 6, 20, 14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Old table size 1=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New table size = 10</a:t>
            </a: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18D8E949-E226-6F84-C133-CEDFA5CF3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4E71FFA-C4EE-4A59-AE88-507ECBD4A276}" type="slidenum">
              <a:rPr lang="en-US" altLang="en-US"/>
              <a:pPr/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9463B-8A8A-D614-44F9-D9622AEB8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E989DD95-27C3-AADE-CFE3-2E1F2D7DED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DFB621FD-F725-0019-608C-BD5AA0DFCA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NOTE: </a:t>
            </a:r>
          </a:p>
          <a:p>
            <a:r>
              <a:rPr lang="en-US" altLang="en-US" dirty="0"/>
              <a:t>The interface has a private static class for Entry: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/** Define inner class for Entry */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public static class Entry&lt;K, V&gt;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K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V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Entry(K key, V value)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this.key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K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getKey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V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@Override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String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toString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"[" + key + ", " + value + "]";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endParaRPr lang="en-US" altLang="en-US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E518FE7C-1ADB-1CE6-8C6E-741766D78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0E625AD-04F2-494A-B7E3-3AF9212E3A64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1010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995D-E2DF-0A18-BF8C-1079CDE9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FB7EF700-C985-E836-D5C9-5B8C1616B1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9BF07207-83E1-1766-1AD8-0EDDC39F14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NOTE: </a:t>
            </a:r>
          </a:p>
          <a:p>
            <a:r>
              <a:rPr lang="en-US" altLang="en-US" dirty="0"/>
              <a:t>The interface has a private static class for Entry: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/** Define inner class for Entry */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public static class Entry&lt;K, V&gt;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K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V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Entry(K key, V value)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this.key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K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getKey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V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@Override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String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toString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"[" + key + ", " + value + "]";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endParaRPr lang="en-US" altLang="en-US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72D782CE-0D0F-8722-E2AF-8B246A510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0E625AD-04F2-494A-B7E3-3AF9212E3A64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5779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2CE9-CE14-9BF0-327A-D4D237DC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F5DEB92E-3E39-D206-C883-5DC7BB4A9E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03BBC3E5-C47E-4247-A651-8E6CA2F2D9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573B83B7-A015-D062-27F3-1F0C997A0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0E625AD-04F2-494A-B7E3-3AF9212E3A64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5235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0D021-0049-F7F3-A02B-27E3C383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D67A5EDA-0047-E010-C6B5-A15E5C5018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741787CA-2550-7393-7C41-9C31CB5E9A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NOTE: </a:t>
            </a:r>
          </a:p>
          <a:p>
            <a:r>
              <a:rPr lang="en-US" altLang="en-US" dirty="0"/>
              <a:t>The interface has a private static class for Entry: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/** Define inner class for Entry */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public static class Entry&lt;K, V&gt;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K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V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Entry(K key, V value)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this.key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K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getKey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key;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V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value;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@Override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public String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toString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return "[" + key + ", " + value + "]";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endParaRPr lang="en-US" altLang="en-US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F9602FDF-A7FE-9F19-2F1C-CB9DE0844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0E625AD-04F2-494A-B7E3-3AF9212E3A64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3419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0394-D76F-4DAE-7656-EA16A502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CEDDEADE-5D65-A37A-AB2C-491BE2A593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66B898C1-98E3-0DE1-F3CD-CE3C3514A9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A09EF765-23F1-D0E7-7333-CACD2C37E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0E625AD-04F2-494A-B7E3-3AF9212E3A64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6772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BBF1-0CA7-C001-B11A-986CC641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3338347-1D0F-169D-8BE6-811EB2C6CE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75D47787-0357-3A2F-2DDD-2ADEEDBD8B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03047CBA-1BD7-E95B-B314-3F0087B75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6947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52D5-0624-BBCF-61CC-479B814E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036A7D4C-79FB-417B-3D68-BD326FC024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1095788-B02C-835C-EBAB-C4749640B2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45CE9406-FA86-16F7-0935-C4C9F359E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1672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3E846-6958-361D-5743-534EACE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D1F9B32-4017-43AF-DA11-AEFAB7608E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62BF32E9-39AC-51B3-A74D-87F2D4F1DB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84144308-CE66-8551-63AE-B831546D6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0420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FD96-C05D-0264-3A2C-A1F1FAB2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34756C3A-941C-72BE-7EA0-AEA488CB34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437AC92C-4DD9-39E9-8AE6-DF67412D89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9707E71-F709-60A7-4D10-1E5DFC1D4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0741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FE7A-055E-43C1-9E37-6D1798FE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88EF233-DD36-51F0-B29D-CB32E20B67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6E67899F-1F46-2F36-E60D-2CEE30CE92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5FD041FF-1E63-73B6-FCA4-98D01BF53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02381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F423-6C4B-A280-262A-B9E49C7F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A6227492-6FD5-3BFA-22CD-A1F7EDCC45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2E63482E-3B72-072C-FB8C-0D378B5F0D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28187473-8146-EDF7-8394-7F62EB051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0893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14737-5C42-98F7-E8A0-D42B3715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679CBDED-945F-3ED8-311A-AE1491C6D7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9AB059B1-C342-B8D7-B5D6-295084A90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AFC0DBB2-CBD3-337E-F2FF-466A30EFD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5118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B172-1735-8690-B671-AB9C483E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94D4443A-EF87-A510-A03B-EE28CE334C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D424F109-A3B9-EC02-195B-9E9C308DF9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E9455CB7-ADF0-1002-CBDF-042197AEA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2015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C47E-45AE-723F-CDB2-7FDDB10E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7269B84D-061F-1729-B5F0-44E03DCCD7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468BE74A-F958-B0C6-0767-05FFAF412F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03E409DD-F50B-ED12-1078-5A210331F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505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53AA-7149-F31C-4EF5-483A98836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4467AE8B-0A3D-6EB3-C8C2-3BCFC1632F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45FD2D9E-50C6-6DB9-1856-0C2C3876BE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F63A94D0-B49A-98C5-BE17-18B3141F6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4746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76BB-67B2-54DC-B99E-292346DD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B4404B08-194E-8FB4-28FA-6BC9B52AD7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1F9812B4-45F9-2C74-F2A3-BCDAF6B0CF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508E1187-59B2-F99E-CE0A-F808932AB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5165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900A-2284-DE2E-2B9F-5E337F21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A666868F-5482-EA0F-4ECF-D4C1A76AEA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6406A51-F1D3-E228-5F9D-FC080D5081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9DF4EE49-9844-0974-CF54-BAD63F9F8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61739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0A7A-E7B9-0040-3B88-8F5BEB22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F8808659-BDCF-E759-DA95-426CE3EDE3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FFAA3947-CC62-8430-B711-53A4298729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754ADCEC-905D-4DBE-1182-DE7E4E790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8CB377A-4CE8-47F4-AABA-712009EF42A7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9504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8F7A2FAC-7DC0-37B8-F71C-7371CC6986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37316B2B-B679-9A2B-5800-E8DD931D95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DB0F3AF1-C579-85D8-3156-E30552408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E645E3-CB24-4368-97DD-9EF13B1DA37E}" type="slidenum">
              <a:rPr lang="en-US" altLang="en-US"/>
              <a:pPr/>
              <a:t>46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0BC2F67-B6D6-C2AC-540C-74F832A91F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A97969F7-117C-33B3-2BF5-63585DD4A3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AB2D994-1AE6-84F3-E6D9-688E5F6ED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E7C6F34-661D-4955-9798-E5D7E61BF687}" type="slidenum">
              <a:rPr lang="en-US" altLang="en-US"/>
              <a:pPr/>
              <a:t>47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C7CFE-7EB7-D561-B973-33A632F1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D7664-E405-4A6A-B476-56108BB0AA5B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A9435-35DC-7AFE-D0F7-65F794AD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F7E1F-0DD7-FB3D-B9B9-D1D5884B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3794B9-D82A-4B52-A059-0C8BEAB54F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42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97756-BF0D-C48F-D37E-64B4BA84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B6253-7FB0-440F-B55F-C99E46BDBF6A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2CCB9-6BAC-E7E8-1FBB-BA412A10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F0C97-BFBC-AC62-19B4-9751E6DA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3C6CA1-E8D0-4E53-B78D-55458120A4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08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FB752-15F3-BE6A-294F-74DD5A18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61C2E-8001-4A92-BEF1-756EE7EADE3A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3E5F1-2C04-DE97-3B38-9B78DE12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4CF18-34A6-E430-F09C-CF878995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378BB-B277-433D-8FDA-022F4A38CC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6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9F6222-FCBB-EA0D-4C47-A1A63134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39FA-9777-43A2-B01B-E02D858455C0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CA41-E45E-8E6D-08CB-84F06CE4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2A19E3-FAE3-0EC8-5205-01D47E37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425E8-184F-41BB-8492-0749D5FA62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419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AA70FEB-9BDF-C94B-361A-25590859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C1AB4-A008-45EA-9E38-3B5CCFAEA58C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D8091AB-D31F-F59F-54DD-33DD8256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9D3EAFF-9713-DA23-CC1E-5AACF23A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29F74-2206-4279-83C4-31A915909F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332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A44ED29-6FA1-43CF-5308-A44BFAEF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915AE-18CF-4ED3-A493-E536EC879AE2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CC10C1-33CB-BF5A-D08F-74DEB7E9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1578024-8CD3-8C0B-A31F-F210E3B0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D27A8-7766-4B23-9811-2CF8403CD2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83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E1D10A1-D5D3-AD3D-9915-DA7A2D26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DFBE1-20D5-411B-BB4F-50E972AA0425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D97C44-4FC0-70C1-1260-0572BD1F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9B2E5AA-BFA6-D66A-D496-559DDBBC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F10A05-0420-429A-9AF6-FC80FAA6DB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881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C6D56C-A96C-BE69-DB02-03780B34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5B7B2-1176-467A-B913-EBCB7F88F206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D40A86-0E01-73C0-FF6A-EF69A86E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9889F4-3148-37E8-E400-3E705FF8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C7DDA-66DC-4FF0-ACAE-C898709A9A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663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C710361-261C-719A-C991-4269B61F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B2451-6BF0-4532-BFE1-5B39A07EB8B1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754AA8-FE7D-B1CB-5812-C6BE62AD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47657F-18FA-FE5F-393B-ABDBBB410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DDCEC-1330-4FD2-89D6-592A195073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270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D55-431A-5886-641C-15338FD4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207C8-BF3B-44A1-9237-27BB64EAFC4C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6A8D-2426-D578-7AB8-BC23BB15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1CECD-4D2F-5C6A-6A3E-899EE74A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5886D9-AB6A-442A-B047-0CD32FE395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021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FE8D2-A527-FA16-4C0D-F1DF4224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301A9-E84C-4EF0-A440-4B790246142A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729B9-314B-66FE-9887-7DF4A5A5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2119E-EC5D-39D5-EDA3-9A1DE471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AAA81-B719-47F4-A5F8-44AD7851D1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93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BBA912-F473-9DC5-2F40-452DF2439E1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444F29C-DCD1-74B5-2A32-F282711DE9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F58CB-399A-7464-9AEB-9A5BCE7B2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7AEC271-4BED-4CF4-9DED-0FD80003161C}" type="datetimeFigureOut">
              <a:rPr lang="en-US"/>
              <a:pPr>
                <a:defRPr/>
              </a:pPr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DDF5-B80E-AD5A-96A8-1E33CC84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B0F8-91CD-8535-D234-E9BFA32CB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083C121F-C576-4A55-B388-957493AD15B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DB7981-8E2F-2CE7-7DAE-359E81772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93888"/>
            <a:ext cx="12192000" cy="2381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252C6-F6FD-7702-CFDC-A74B6A89F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75" y="2905125"/>
            <a:ext cx="5732463" cy="72707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4000" dirty="0">
                <a:latin typeface="+mn-lt"/>
              </a:rPr>
              <a:t>Data Structures</a:t>
            </a:r>
          </a:p>
        </p:txBody>
      </p:sp>
      <p:sp>
        <p:nvSpPr>
          <p:cNvPr id="3076" name="Title 1">
            <a:extLst>
              <a:ext uri="{FF2B5EF4-FFF2-40B4-BE49-F238E27FC236}">
                <a16:creationId xmlns:a16="http://schemas.microsoft.com/office/drawing/2014/main" id="{D171077C-8168-5348-65E0-F7F5DBF719C0}"/>
              </a:ext>
            </a:extLst>
          </p:cNvPr>
          <p:cNvSpPr txBox="1">
            <a:spLocks/>
          </p:cNvSpPr>
          <p:nvPr/>
        </p:nvSpPr>
        <p:spPr bwMode="auto">
          <a:xfrm>
            <a:off x="3952875" y="4137025"/>
            <a:ext cx="8239125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/>
              <a:t>Lecture 14: </a:t>
            </a:r>
            <a:r>
              <a:rPr lang="en-US" altLang="en-US" sz="3200" b="1" dirty="0"/>
              <a:t>Hash Tables</a:t>
            </a:r>
          </a:p>
        </p:txBody>
      </p:sp>
      <p:pic>
        <p:nvPicPr>
          <p:cNvPr id="3077" name="Picture 3">
            <a:extLst>
              <a:ext uri="{FF2B5EF4-FFF2-40B4-BE49-F238E27FC236}">
                <a16:creationId xmlns:a16="http://schemas.microsoft.com/office/drawing/2014/main" id="{A523DC97-B213-514C-924B-8C3D51E0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1919288"/>
            <a:ext cx="160972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F388D5-7296-D3AC-EABB-8D0A8EEC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Hash Tables</a:t>
            </a:r>
            <a:endParaRPr lang="en-US" sz="3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2291" name="TextBox 9">
            <a:extLst>
              <a:ext uri="{FF2B5EF4-FFF2-40B4-BE49-F238E27FC236}">
                <a16:creationId xmlns:a16="http://schemas.microsoft.com/office/drawing/2014/main" id="{9C6C1E31-DE27-FD69-F3BC-026AA6C77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7" y="1668909"/>
            <a:ext cx="10966450" cy="35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 b="1" i="1" dirty="0">
                <a:solidFill>
                  <a:srgbClr val="0070C0"/>
                </a:solidFill>
              </a:rPr>
              <a:t>Binary Search Trees </a:t>
            </a:r>
            <a:r>
              <a:rPr lang="en-US" altLang="en-US" sz="2500" dirty="0"/>
              <a:t>gives access to items in O (log n)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2500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 dirty="0"/>
              <a:t>This is pretty good…but </a:t>
            </a:r>
            <a:r>
              <a:rPr lang="en-US" altLang="en-US" sz="2500" b="1" i="1" dirty="0">
                <a:solidFill>
                  <a:srgbClr val="0070C0"/>
                </a:solidFill>
              </a:rPr>
              <a:t>hash tables can access items in O(1) </a:t>
            </a:r>
            <a:r>
              <a:rPr lang="en-US" altLang="en-US" sz="2500" dirty="0"/>
              <a:t>by directly accessing table locations using key values.</a:t>
            </a:r>
            <a:endParaRPr lang="en-US" altLang="en-US" sz="2500" b="1" i="1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2500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 dirty="0"/>
              <a:t>In Java, some types of sets and maps are implemented using a data structure known as a </a:t>
            </a:r>
            <a:r>
              <a:rPr lang="en-US" altLang="en-US" sz="2400" b="1" i="1" dirty="0">
                <a:solidFill>
                  <a:srgbClr val="0070C0"/>
                </a:solidFill>
              </a:rPr>
              <a:t>hash table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400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2500" dirty="0"/>
          </a:p>
        </p:txBody>
      </p:sp>
      <p:pic>
        <p:nvPicPr>
          <p:cNvPr id="5128" name="Picture 19">
            <a:extLst>
              <a:ext uri="{FF2B5EF4-FFF2-40B4-BE49-F238E27FC236}">
                <a16:creationId xmlns:a16="http://schemas.microsoft.com/office/drawing/2014/main" id="{E6240B49-C7E4-FB11-3C8A-757BF905D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1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C7A5D1F-2F06-8880-C39D-926EB545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Hash Codes and Index Calculation</a:t>
            </a:r>
            <a:endParaRPr lang="en-US" sz="3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AC153-4B0A-4112-711D-2DD4414E2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1784350"/>
            <a:ext cx="109664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 b="1" dirty="0"/>
              <a:t>Hashing: </a:t>
            </a:r>
            <a:r>
              <a:rPr lang="en-US" altLang="en-US" sz="2500" dirty="0"/>
              <a:t>the process of </a:t>
            </a:r>
            <a:r>
              <a:rPr lang="en-US" altLang="en-US" sz="2500" b="1" dirty="0">
                <a:solidFill>
                  <a:srgbClr val="002060"/>
                </a:solidFill>
              </a:rPr>
              <a:t>transforming the item’s key value into an integer value </a:t>
            </a:r>
            <a:r>
              <a:rPr lang="en-US" altLang="en-US" sz="2500" dirty="0"/>
              <a:t>(hash code), which will be transformed into a table index.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C5B35-083B-1EBC-33D4-B1BB06378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809" y="4092575"/>
            <a:ext cx="4962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index = (int) 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charValue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3F9066-4A0A-F99B-835D-4C34230B3A5B}"/>
              </a:ext>
            </a:extLst>
          </p:cNvPr>
          <p:cNvGraphicFramePr>
            <a:graphicFrameLocks noGrp="1"/>
          </p:cNvGraphicFramePr>
          <p:nvPr/>
        </p:nvGraphicFramePr>
        <p:xfrm>
          <a:off x="7858125" y="4702175"/>
          <a:ext cx="2495550" cy="2128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23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marL="91447" marR="91447" marT="45698" marB="4569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91447" marR="91447" marT="45698" marB="4569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7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marL="91447" marR="91447" marT="45698" marB="4569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 marL="91447" marR="91447" marT="45698" marB="4569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 marL="91447" marR="91447" marT="45698" marB="4569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4863FBCF-D031-EA89-01D8-EF69646B6BF3}"/>
              </a:ext>
            </a:extLst>
          </p:cNvPr>
          <p:cNvSpPr/>
          <p:nvPr/>
        </p:nvSpPr>
        <p:spPr>
          <a:xfrm>
            <a:off x="5340350" y="5143500"/>
            <a:ext cx="2266950" cy="628650"/>
          </a:xfrm>
          <a:prstGeom prst="wedgeRectCallout">
            <a:avLst>
              <a:gd name="adj1" fmla="val 62418"/>
              <a:gd name="adj2" fmla="val -10228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ASCII value for “A”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AC16A861-49C9-568B-1908-F5A27B9A238A}"/>
              </a:ext>
            </a:extLst>
          </p:cNvPr>
          <p:cNvSpPr/>
          <p:nvPr/>
        </p:nvSpPr>
        <p:spPr>
          <a:xfrm>
            <a:off x="10598150" y="5086350"/>
            <a:ext cx="1504950" cy="628650"/>
          </a:xfrm>
          <a:prstGeom prst="wedgeRectCallout">
            <a:avLst>
              <a:gd name="adj1" fmla="val -75599"/>
              <a:gd name="adj2" fmla="val 29166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A’s frequency</a:t>
            </a:r>
          </a:p>
        </p:txBody>
      </p:sp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8F13A559-4615-118F-914C-932C51BEAB0E}"/>
              </a:ext>
            </a:extLst>
          </p:cNvPr>
          <p:cNvSpPr/>
          <p:nvPr/>
        </p:nvSpPr>
        <p:spPr>
          <a:xfrm>
            <a:off x="5340350" y="6057900"/>
            <a:ext cx="2266950" cy="628650"/>
          </a:xfrm>
          <a:prstGeom prst="wedgeRectCallout">
            <a:avLst>
              <a:gd name="adj1" fmla="val 63258"/>
              <a:gd name="adj2" fmla="val -40531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ASCII value for “B”</a:t>
            </a:r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054C205E-99A7-4A8B-CAFD-F016918F4085}"/>
              </a:ext>
            </a:extLst>
          </p:cNvPr>
          <p:cNvSpPr/>
          <p:nvPr/>
        </p:nvSpPr>
        <p:spPr>
          <a:xfrm>
            <a:off x="10598150" y="5949950"/>
            <a:ext cx="1504950" cy="628650"/>
          </a:xfrm>
          <a:prstGeom prst="wedgeRectCallout">
            <a:avLst>
              <a:gd name="adj1" fmla="val -81928"/>
              <a:gd name="adj2" fmla="val -10228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B’s frequency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62B174-4795-894E-F6D8-0FE17FCC9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2914650"/>
            <a:ext cx="109664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 b="1" dirty="0"/>
              <a:t>Example: </a:t>
            </a:r>
            <a:r>
              <a:rPr lang="en-US" altLang="en-US" sz="2500" dirty="0"/>
              <a:t>To build a Huffman tree, you need to know the number of occurrences of each character in the text being considered.</a:t>
            </a:r>
          </a:p>
        </p:txBody>
      </p:sp>
      <p:pic>
        <p:nvPicPr>
          <p:cNvPr id="7195" name="Picture 19">
            <a:extLst>
              <a:ext uri="{FF2B5EF4-FFF2-40B4-BE49-F238E27FC236}">
                <a16:creationId xmlns:a16="http://schemas.microsoft.com/office/drawing/2014/main" id="{12606BC9-1FFE-65D6-D13E-E4AC1A71A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 animBg="1"/>
      <p:bldP spid="12" grpId="0" animBg="1"/>
      <p:bldP spid="13" grpId="0" animBg="1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40BE0C-1F0B-F0FC-A7F8-909CDC6C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Hash Codes for Unicode Characters </a:t>
            </a:r>
            <a:r>
              <a:rPr lang="en-US" dirty="0">
                <a:solidFill>
                  <a:srgbClr val="0070C0"/>
                </a:solidFill>
                <a:latin typeface="+mn-lt"/>
              </a:rPr>
              <a:t>(1)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586C0-977B-9F68-B853-90F99F531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1784350"/>
            <a:ext cx="109664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dirty="0">
                <a:latin typeface="+mn-lt"/>
              </a:rPr>
              <a:t>If we were using Unicode characters – there would be 2</a:t>
            </a:r>
            <a:r>
              <a:rPr lang="en-US" altLang="en-US" sz="2400" baseline="30000" dirty="0">
                <a:latin typeface="+mn-lt"/>
              </a:rPr>
              <a:t>16 </a:t>
            </a:r>
            <a:r>
              <a:rPr lang="en-US" altLang="en-US" sz="2400" dirty="0">
                <a:latin typeface="+mn-lt"/>
              </a:rPr>
              <a:t> (65,536) potential index values. But generally – there are maybe 100 different characters used.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5D910-A8B0-7EB9-08D5-944930B2F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3060700"/>
            <a:ext cx="109664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400" dirty="0">
                <a:latin typeface="+mn-lt"/>
              </a:rPr>
              <a:t>So, rather than use a table with 65,536 elements, it would be more sensible to store the items in a smaller table (say 200 elements)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F63CC-9442-96E6-BE18-2ED8AD2B46F3}"/>
              </a:ext>
            </a:extLst>
          </p:cNvPr>
          <p:cNvSpPr txBox="1"/>
          <p:nvPr/>
        </p:nvSpPr>
        <p:spPr>
          <a:xfrm>
            <a:off x="523875" y="4413250"/>
            <a:ext cx="10966450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n-lt"/>
              </a:rPr>
              <a:t>We can calculate the array index for character </a:t>
            </a:r>
            <a:r>
              <a:rPr lang="en-US" sz="2400" dirty="0" err="1">
                <a:latin typeface="+mn-lt"/>
              </a:rPr>
              <a:t>charValue</a:t>
            </a:r>
            <a:r>
              <a:rPr lang="en-US" sz="2400" dirty="0">
                <a:latin typeface="+mn-lt"/>
              </a:rPr>
              <a:t> :</a:t>
            </a:r>
          </a:p>
          <a:p>
            <a:pPr>
              <a:defRPr/>
            </a:pPr>
            <a:r>
              <a:rPr lang="en-US" sz="2400" b="1" dirty="0">
                <a:latin typeface="+mn-lt"/>
                <a:cs typeface="Courier New" panose="02070309020205020404" pitchFamily="49" charset="0"/>
              </a:rPr>
              <a:t> 	</a:t>
            </a:r>
          </a:p>
          <a:p>
            <a:pPr>
              <a:defRPr/>
            </a:pPr>
            <a:r>
              <a:rPr lang="en-US" sz="2400" b="1" dirty="0">
                <a:latin typeface="+mn-lt"/>
                <a:cs typeface="Courier New" panose="02070309020205020404" pitchFamily="49" charset="0"/>
              </a:rPr>
              <a:t>                        int index =  ((int) </a:t>
            </a:r>
            <a:r>
              <a:rPr lang="en-US" sz="2400" b="1" dirty="0" err="1">
                <a:latin typeface="+mn-lt"/>
                <a:cs typeface="Courier New" panose="02070309020205020404" pitchFamily="49" charset="0"/>
              </a:rPr>
              <a:t>charValue</a:t>
            </a:r>
            <a:r>
              <a:rPr lang="en-US" sz="2400" b="1" dirty="0">
                <a:latin typeface="+mn-lt"/>
                <a:cs typeface="Courier New" panose="02070309020205020404" pitchFamily="49" charset="0"/>
              </a:rPr>
              <a:t>)% 200</a:t>
            </a:r>
            <a:r>
              <a:rPr lang="en-US" sz="2400" dirty="0">
                <a:latin typeface="+mn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9B086E-96FF-9C80-A56E-F1C7463C9A03}"/>
              </a:ext>
            </a:extLst>
          </p:cNvPr>
          <p:cNvSpPr/>
          <p:nvPr/>
        </p:nvSpPr>
        <p:spPr>
          <a:xfrm>
            <a:off x="3036895" y="5913136"/>
            <a:ext cx="4791075" cy="7239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What is the problem with this approach?</a:t>
            </a:r>
          </a:p>
        </p:txBody>
      </p:sp>
      <p:pic>
        <p:nvPicPr>
          <p:cNvPr id="9223" name="Picture 19">
            <a:extLst>
              <a:ext uri="{FF2B5EF4-FFF2-40B4-BE49-F238E27FC236}">
                <a16:creationId xmlns:a16="http://schemas.microsoft.com/office/drawing/2014/main" id="{9B6D39F1-FA0E-AE8B-A159-AE43C5015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9DCF53-BE52-904F-9F55-2F1F43B7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Hash Codes for Unicode Characters </a:t>
            </a:r>
            <a:r>
              <a:rPr lang="en-US" dirty="0">
                <a:solidFill>
                  <a:srgbClr val="0070C0"/>
                </a:solidFill>
                <a:latin typeface="+mn-lt"/>
              </a:rPr>
              <a:t>(2)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E1607A-B400-73DC-2E57-D0B08A4A0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690193"/>
              </p:ext>
            </p:extLst>
          </p:nvPr>
        </p:nvGraphicFramePr>
        <p:xfrm>
          <a:off x="962025" y="1939925"/>
          <a:ext cx="7553325" cy="624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0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946"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Character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Unicode value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Hash Code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DC7D2C-9379-0DB4-C270-4A6ED30CD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025" y="4124941"/>
            <a:ext cx="109664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500" dirty="0"/>
              <a:t>This situation is known as a </a:t>
            </a:r>
            <a:r>
              <a:rPr lang="en-US" altLang="en-US" sz="2500" b="1" dirty="0">
                <a:solidFill>
                  <a:srgbClr val="0070C0"/>
                </a:solidFill>
              </a:rPr>
              <a:t>collision</a:t>
            </a:r>
            <a:r>
              <a:rPr lang="en-US" altLang="en-US" sz="2500" dirty="0">
                <a:solidFill>
                  <a:srgbClr val="0070C0"/>
                </a:solidFill>
              </a:rPr>
              <a:t>.</a:t>
            </a:r>
            <a:endParaRPr lang="en-US" altLang="en-US" sz="23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286" name="Picture 19">
            <a:extLst>
              <a:ext uri="{FF2B5EF4-FFF2-40B4-BE49-F238E27FC236}">
                <a16:creationId xmlns:a16="http://schemas.microsoft.com/office/drawing/2014/main" id="{1D70026B-D854-F225-804A-E3FC8B4B7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388550-3E45-BAB5-9DE9-80DF97602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23813"/>
              </p:ext>
            </p:extLst>
          </p:nvPr>
        </p:nvGraphicFramePr>
        <p:xfrm>
          <a:off x="855662" y="2603676"/>
          <a:ext cx="7553325" cy="624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541">
                  <a:extLst>
                    <a:ext uri="{9D8B030D-6E8A-4147-A177-3AD203B41FA5}">
                      <a16:colId xmlns:a16="http://schemas.microsoft.com/office/drawing/2014/main" val="4107098735"/>
                    </a:ext>
                  </a:extLst>
                </a:gridCol>
                <a:gridCol w="3040734">
                  <a:extLst>
                    <a:ext uri="{9D8B030D-6E8A-4147-A177-3AD203B41FA5}">
                      <a16:colId xmlns:a16="http://schemas.microsoft.com/office/drawing/2014/main" val="2831737867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405543652"/>
                    </a:ext>
                  </a:extLst>
                </a:gridCol>
              </a:tblGrid>
              <a:tr h="624946"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Í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8555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F93B43-AD19-614C-4B4B-FD246F752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36136"/>
              </p:ext>
            </p:extLst>
          </p:nvPr>
        </p:nvGraphicFramePr>
        <p:xfrm>
          <a:off x="855663" y="3218568"/>
          <a:ext cx="7553325" cy="624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541">
                  <a:extLst>
                    <a:ext uri="{9D8B030D-6E8A-4147-A177-3AD203B41FA5}">
                      <a16:colId xmlns:a16="http://schemas.microsoft.com/office/drawing/2014/main" val="1968164408"/>
                    </a:ext>
                  </a:extLst>
                </a:gridCol>
                <a:gridCol w="3040734">
                  <a:extLst>
                    <a:ext uri="{9D8B030D-6E8A-4147-A177-3AD203B41FA5}">
                      <a16:colId xmlns:a16="http://schemas.microsoft.com/office/drawing/2014/main" val="2714645126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3567616864"/>
                    </a:ext>
                  </a:extLst>
                </a:gridCol>
              </a:tblGrid>
              <a:tr h="624946">
                <a:tc>
                  <a:txBody>
                    <a:bodyPr/>
                    <a:lstStyle/>
                    <a:p>
                      <a:r>
                        <a:rPr lang="ar-SA" sz="3500" dirty="0">
                          <a:solidFill>
                            <a:schemeClr val="tx1"/>
                          </a:solidFill>
                        </a:rPr>
                        <a:t>م</a:t>
                      </a:r>
                      <a:endParaRPr lang="en-US" sz="3500" dirty="0">
                        <a:solidFill>
                          <a:schemeClr val="tx1"/>
                        </a:solidFill>
                      </a:endParaRP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1605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5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7" marR="91447" marT="45696" marB="4569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1628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D6AF7BD-370C-7F0D-D93A-EDC3E55A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Functions for Generating Hash Codes </a:t>
            </a:r>
            <a:r>
              <a:rPr lang="en-US" sz="3500" dirty="0">
                <a:solidFill>
                  <a:srgbClr val="0070C0"/>
                </a:solidFill>
                <a:latin typeface="+mn-lt"/>
              </a:rPr>
              <a:t>(1)</a:t>
            </a:r>
          </a:p>
        </p:txBody>
      </p:sp>
      <p:pic>
        <p:nvPicPr>
          <p:cNvPr id="13318" name="Picture 19">
            <a:extLst>
              <a:ext uri="{FF2B5EF4-FFF2-40B4-BE49-F238E27FC236}">
                <a16:creationId xmlns:a16="http://schemas.microsoft.com/office/drawing/2014/main" id="{DD3938AB-D297-DF7D-8479-251DBEB4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2F9288-670E-F88F-E045-EDBABB12EA0F}"/>
              </a:ext>
            </a:extLst>
          </p:cNvPr>
          <p:cNvSpPr txBox="1"/>
          <p:nvPr/>
        </p:nvSpPr>
        <p:spPr>
          <a:xfrm>
            <a:off x="0" y="1468438"/>
            <a:ext cx="12109511" cy="595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badi" panose="020B0604020104020204" pitchFamily="34" charset="0"/>
              </a:rPr>
              <a:t>For primitive types (byte, short, int &amp; char) you can cast these to int </a:t>
            </a:r>
          </a:p>
          <a:p>
            <a:pPr marL="4572"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>
                <a:latin typeface="Abadi" panose="020B0604020104020204" pitchFamily="34" charset="0"/>
              </a:rPr>
              <a:t>	-&gt; this will give you different ‘hash’ codes</a:t>
            </a:r>
          </a:p>
          <a:p>
            <a:pPr marL="347472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badi" panose="020B0604020104020204" pitchFamily="34" charset="0"/>
              </a:rPr>
              <a:t>For a float, using the </a:t>
            </a:r>
            <a:r>
              <a:rPr lang="en-US" altLang="en-US" sz="2400" dirty="0" err="1">
                <a:latin typeface="Abadi" panose="020B0604020104020204" pitchFamily="34" charset="0"/>
              </a:rPr>
              <a:t>floatToIntBits</a:t>
            </a:r>
            <a:r>
              <a:rPr lang="en-US" altLang="en-US" sz="2400" dirty="0">
                <a:latin typeface="Abadi" panose="020B0604020104020204" pitchFamily="34" charset="0"/>
              </a:rPr>
              <a:t>() method you can get a unique hash code </a:t>
            </a:r>
          </a:p>
          <a:p>
            <a:pPr marL="4572"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>
                <a:latin typeface="Abadi" panose="020B0604020104020204" pitchFamily="34" charset="0"/>
              </a:rPr>
              <a:t>	-&gt; the bit representation of the floating-point value</a:t>
            </a:r>
          </a:p>
          <a:p>
            <a:pPr marL="347472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badi" panose="020B0604020104020204" pitchFamily="34" charset="0"/>
              </a:rPr>
              <a:t>For long values, the process of ‘folding’ will allow you to split the long value and apply the exclusive ‘or’ operation to combine the 2 halves</a:t>
            </a:r>
          </a:p>
          <a:p>
            <a:pPr marL="347472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en-US" altLang="en-US" sz="2400" dirty="0">
              <a:latin typeface="Abadi" panose="020B0604020104020204" pitchFamily="34" charset="0"/>
            </a:endParaRPr>
          </a:p>
          <a:p>
            <a:pPr marL="347472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badi" panose="020B0604020104020204" pitchFamily="34" charset="0"/>
              </a:rPr>
              <a:t>In applications where keys consist of strings of letters or digits rather than a single character (e.g. social security number) simple algorithms will generate a lot of collisions</a:t>
            </a:r>
          </a:p>
          <a:p>
            <a:pPr marL="804672" lvl="1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Abadi" panose="020B0604020104020204" pitchFamily="34" charset="0"/>
              </a:rPr>
              <a:t>EX: generating a hash code based on summing the ascii value of all characters in a string….But this will generate the same index for words that contain the same letters such as “sign” and “sing” and “gins”</a:t>
            </a:r>
            <a:endParaRPr lang="en-US" altLang="en-US" sz="2400" b="1" dirty="0">
              <a:latin typeface="Abadi" panose="020B0604020104020204" pitchFamily="34" charset="0"/>
            </a:endParaRPr>
          </a:p>
          <a:p>
            <a:pPr marL="347472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en-US" altLang="en-US" sz="2400" b="1" dirty="0">
              <a:latin typeface="Abadi" panose="020B0604020104020204" pitchFamily="34" charset="0"/>
            </a:endParaRPr>
          </a:p>
          <a:p>
            <a:pPr marL="347472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en-US" altLang="en-US" sz="24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D96573-7721-E946-AFDE-DF5FB69F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Functions for Generating Hash Codes </a:t>
            </a:r>
            <a:r>
              <a:rPr lang="en-US" sz="3500" dirty="0">
                <a:solidFill>
                  <a:srgbClr val="0070C0"/>
                </a:solidFill>
                <a:latin typeface="+mn-lt"/>
              </a:rPr>
              <a:t>(2)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E158D-F8B7-5DA1-8988-BF1603C90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34" y="1468438"/>
            <a:ext cx="109664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 dirty="0"/>
              <a:t>One algorithm that has shown good results uses the following formula:</a:t>
            </a:r>
          </a:p>
        </p:txBody>
      </p:sp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B0BF9CDD-1B58-126D-7287-696862DF0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2775" y="4556928"/>
            <a:ext cx="10966450" cy="485710"/>
          </a:xfrm>
          <a:prstGeom prst="rect">
            <a:avLst/>
          </a:prstGeom>
          <a:blipFill rotWithShape="0">
            <a:blip r:embed="rId3"/>
            <a:stretch>
              <a:fillRect l="-834" t="-7595" b="-3164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5368" name="Picture 19">
            <a:extLst>
              <a:ext uri="{FF2B5EF4-FFF2-40B4-BE49-F238E27FC236}">
                <a16:creationId xmlns:a16="http://schemas.microsoft.com/office/drawing/2014/main" id="{40205CD8-DC77-8914-CDA6-B94B4D7CD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 descr="Equation for getting a string's hash code">
            <a:extLst>
              <a:ext uri="{FF2B5EF4-FFF2-40B4-BE49-F238E27FC236}">
                <a16:creationId xmlns:a16="http://schemas.microsoft.com/office/drawing/2014/main" id="{4524E582-FC56-F0C2-F384-49CD3B080F10}"/>
              </a:ext>
            </a:extLst>
          </p:cNvPr>
          <p:cNvGrpSpPr/>
          <p:nvPr/>
        </p:nvGrpSpPr>
        <p:grpSpPr>
          <a:xfrm>
            <a:off x="581034" y="1946276"/>
            <a:ext cx="10385416" cy="508175"/>
            <a:chOff x="581034" y="1864180"/>
            <a:chExt cx="10385416" cy="50817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BD0D19-144E-868C-189B-E285FE253967}"/>
                </a:ext>
              </a:extLst>
            </p:cNvPr>
            <p:cNvSpPr txBox="1">
              <a:spLocks noChangeAspect="1"/>
            </p:cNvSpPr>
            <p:nvPr/>
          </p:nvSpPr>
          <p:spPr bwMode="auto">
            <a:xfrm>
              <a:off x="581034" y="1886645"/>
              <a:ext cx="10385416" cy="485710"/>
            </a:xfrm>
            <a:prstGeom prst="rect">
              <a:avLst/>
            </a:prstGeom>
            <a:blipFill rotWithShape="0">
              <a:blip r:embed="rId5"/>
              <a:stretch>
                <a:fillRect b="-5063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dirty="0">
                  <a:noFill/>
                </a:rPr>
                <a:t> </a:t>
              </a:r>
              <a:r>
                <a:rPr lang="en-US" dirty="0" err="1">
                  <a:noFill/>
                </a:rPr>
                <a:t>zzzzzzzz</a:t>
              </a:r>
              <a:endParaRPr lang="en-US" dirty="0">
                <a:noFill/>
              </a:endParaRPr>
            </a:p>
          </p:txBody>
        </p:sp>
        <p:sp>
          <p:nvSpPr>
            <p:cNvPr id="15369" name="TextBox 1">
              <a:extLst>
                <a:ext uri="{FF2B5EF4-FFF2-40B4-BE49-F238E27FC236}">
                  <a16:creationId xmlns:a16="http://schemas.microsoft.com/office/drawing/2014/main" id="{F30357CC-5717-C38E-7F15-0BDAC8DDA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6904" y="1864180"/>
              <a:ext cx="562975" cy="430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200" b="1" i="1" dirty="0"/>
                <a:t>n-3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8CF12A-081B-22AD-3D02-DDC21B6363DE}"/>
              </a:ext>
            </a:extLst>
          </p:cNvPr>
          <p:cNvSpPr txBox="1"/>
          <p:nvPr/>
        </p:nvSpPr>
        <p:spPr>
          <a:xfrm>
            <a:off x="9779893" y="2003422"/>
            <a:ext cx="20658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0070C0"/>
                </a:solidFill>
              </a:rPr>
              <a:t>where </a:t>
            </a:r>
          </a:p>
          <a:p>
            <a:r>
              <a:rPr lang="en-US" sz="2000" i="1" dirty="0">
                <a:solidFill>
                  <a:srgbClr val="0070C0"/>
                </a:solidFill>
              </a:rPr>
              <a:t>Si is the </a:t>
            </a:r>
            <a:r>
              <a:rPr lang="en-US" sz="2000" i="1" dirty="0" err="1">
                <a:solidFill>
                  <a:srgbClr val="0070C0"/>
                </a:solidFill>
              </a:rPr>
              <a:t>ith</a:t>
            </a:r>
            <a:r>
              <a:rPr lang="en-US" sz="2000" i="1" dirty="0">
                <a:solidFill>
                  <a:srgbClr val="0070C0"/>
                </a:solidFill>
              </a:rPr>
              <a:t> position in the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14319-8F82-2400-B58C-EFFDCD039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997" y="4278709"/>
            <a:ext cx="904838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 dirty="0">
                <a:latin typeface="Abadi" panose="020B0604020104020204" pitchFamily="34" charset="0"/>
              </a:rPr>
              <a:t>The probability for two strings have the same hash code is relatively small.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 dirty="0">
                <a:latin typeface="Abadi" panose="020B0604020104020204" pitchFamily="34" charset="0"/>
              </a:rPr>
              <a:t>Each letter and its position affect the value.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 dirty="0">
                <a:latin typeface="Abadi" panose="020B0604020104020204" pitchFamily="34" charset="0"/>
              </a:rPr>
              <a:t>The values tend to be spread well over the integers (That is, every hash value in the output range should be generated with roughly the same probability.)</a:t>
            </a:r>
          </a:p>
        </p:txBody>
      </p:sp>
      <p:pic>
        <p:nvPicPr>
          <p:cNvPr id="12" name="Picture 11" descr="example of getting hash value for 'cat'">
            <a:extLst>
              <a:ext uri="{FF2B5EF4-FFF2-40B4-BE49-F238E27FC236}">
                <a16:creationId xmlns:a16="http://schemas.microsoft.com/office/drawing/2014/main" id="{C9CFBA72-290A-AECA-5D60-91F35A992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60" y="3531103"/>
            <a:ext cx="9012725" cy="330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611DD5-904A-E980-EB11-895818C7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Qualities of the String Hash Function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3DA0403-6AF9-2FC4-A72F-D805B3DA4C52}"/>
              </a:ext>
            </a:extLst>
          </p:cNvPr>
          <p:cNvSpPr/>
          <p:nvPr/>
        </p:nvSpPr>
        <p:spPr>
          <a:xfrm>
            <a:off x="855663" y="1695451"/>
            <a:ext cx="4010025" cy="579438"/>
          </a:xfrm>
          <a:prstGeom prst="roundRect">
            <a:avLst/>
          </a:prstGeom>
          <a:solidFill>
            <a:srgbClr val="008E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Good Qualities of a Hash 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BAB5E-5CC9-1D57-1B64-754BA0DF7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2370139"/>
            <a:ext cx="41624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500" dirty="0"/>
              <a:t>Spread values evenly.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54715A-25CC-7354-E370-77693755D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3035301"/>
            <a:ext cx="41624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500" dirty="0"/>
              <a:t>Cheap to compute.</a:t>
            </a: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0773D9DB-7708-BECA-544E-D5296E005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5F002-D205-A6BF-97D7-4FD8B68B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60735D1-7905-1FE8-78E5-BB004FB73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Compressing Hash Codes   (a)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6125D5A4-6EAC-94BC-8314-F4EDC5632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353304-6F59-CE62-CB7C-918D71D59CC4}"/>
              </a:ext>
            </a:extLst>
          </p:cNvPr>
          <p:cNvSpPr txBox="1"/>
          <p:nvPr/>
        </p:nvSpPr>
        <p:spPr>
          <a:xfrm>
            <a:off x="163512" y="1579705"/>
            <a:ext cx="118625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Given a hash code -&gt; to get an ‘index’ for a table (size N) you need to calculate a value between 0 and N-1</a:t>
            </a:r>
          </a:p>
          <a:p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 pitchFamily="34" charset="0"/>
              </a:rPr>
              <a:t>	h(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) = 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 % N     note: 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                                                      N should be a prime number to get fewer collisions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                                                      however, finding large prime numbers can be time consuming..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E4DD9-825C-82A3-2A45-DCAE471177C6}"/>
              </a:ext>
            </a:extLst>
          </p:cNvPr>
          <p:cNvSpPr txBox="1"/>
          <p:nvPr/>
        </p:nvSpPr>
        <p:spPr>
          <a:xfrm>
            <a:off x="6296628" y="4077695"/>
            <a:ext cx="48522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&amp;</a:t>
            </a:r>
            <a:r>
              <a:rPr lang="en-US" dirty="0"/>
              <a:t>      Bitwise AND operator: </a:t>
            </a:r>
          </a:p>
          <a:p>
            <a:r>
              <a:rPr lang="en-US" dirty="0"/>
              <a:t>         Only 1 and 1 results in a 1</a:t>
            </a:r>
          </a:p>
          <a:p>
            <a:pPr lvl="0"/>
            <a:r>
              <a:rPr lang="en-US" b="1" dirty="0"/>
              <a:t>^</a:t>
            </a:r>
            <a:r>
              <a:rPr lang="en-US" dirty="0"/>
              <a:t>       Bitwise exclusive OR</a:t>
            </a:r>
          </a:p>
          <a:p>
            <a:pPr lvl="1"/>
            <a:r>
              <a:rPr lang="en-US" b="1" dirty="0"/>
              <a:t>XOR rules</a:t>
            </a:r>
            <a:endParaRPr lang="en-US" dirty="0"/>
          </a:p>
          <a:p>
            <a:pPr lvl="1"/>
            <a:r>
              <a:rPr lang="en-US" dirty="0"/>
              <a:t>0 ^ 0 = 0</a:t>
            </a:r>
          </a:p>
          <a:p>
            <a:pPr lvl="1"/>
            <a:r>
              <a:rPr lang="en-US" dirty="0"/>
              <a:t>0 ^ 1 = 1</a:t>
            </a:r>
          </a:p>
          <a:p>
            <a:pPr lvl="1"/>
            <a:r>
              <a:rPr lang="en-US" dirty="0"/>
              <a:t>1 ^ 0 = 1</a:t>
            </a:r>
          </a:p>
          <a:p>
            <a:pPr lvl="1"/>
            <a:r>
              <a:rPr lang="en-US" dirty="0"/>
              <a:t>1 ^ 1 = 0</a:t>
            </a:r>
          </a:p>
          <a:p>
            <a:r>
              <a:rPr lang="en-US" b="1" dirty="0"/>
              <a:t>&gt;&gt;&gt; </a:t>
            </a:r>
            <a:r>
              <a:rPr lang="en-US" dirty="0"/>
              <a:t>is unsigned right shift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045F8-B23B-EF57-D8C0-71C97FA41C76}"/>
              </a:ext>
            </a:extLst>
          </p:cNvPr>
          <p:cNvSpPr txBox="1"/>
          <p:nvPr/>
        </p:nvSpPr>
        <p:spPr>
          <a:xfrm>
            <a:off x="313982" y="3336795"/>
            <a:ext cx="11503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In Java, N is a power of 2 which means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         h(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) = 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 % N    is equivalent to     h(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) = 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 &amp; (N-1) </a:t>
            </a:r>
          </a:p>
        </p:txBody>
      </p:sp>
    </p:spTree>
    <p:extLst>
      <p:ext uri="{BB962C8B-B14F-4D97-AF65-F5344CB8AC3E}">
        <p14:creationId xmlns:p14="http://schemas.microsoft.com/office/powerpoint/2010/main" val="5088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CB76-2A50-4287-11C9-FCC8004C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2A5478-EB50-0E72-6EA8-642E3332E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Compressing Hash Codes   (b)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F9746B22-8ACF-E74A-8F99-E4A82D6B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D62478-38B4-C120-761A-99000A1AC275}"/>
              </a:ext>
            </a:extLst>
          </p:cNvPr>
          <p:cNvSpPr txBox="1"/>
          <p:nvPr/>
        </p:nvSpPr>
        <p:spPr>
          <a:xfrm>
            <a:off x="163512" y="1579705"/>
            <a:ext cx="1141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Example 1:  understanding bitwise operator &amp;: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3C8F2-A3FD-F66E-6362-36A9044C5F7D}"/>
              </a:ext>
            </a:extLst>
          </p:cNvPr>
          <p:cNvSpPr txBox="1"/>
          <p:nvPr/>
        </p:nvSpPr>
        <p:spPr>
          <a:xfrm>
            <a:off x="6242615" y="2875002"/>
            <a:ext cx="40173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N – 1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&amp; is a bitwise AND operator</a:t>
            </a:r>
          </a:p>
          <a:p>
            <a:r>
              <a:rPr lang="en-US" dirty="0">
                <a:latin typeface="Abadi" panose="020B0604020104020204" pitchFamily="34" charset="0"/>
              </a:rPr>
              <a:t>   where you get 0 for everything    </a:t>
            </a:r>
          </a:p>
          <a:p>
            <a:r>
              <a:rPr lang="en-US" dirty="0">
                <a:latin typeface="Abadi" panose="020B0604020104020204" pitchFamily="34" charset="0"/>
              </a:rPr>
              <a:t>   except 1 and 1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AF6FD-2FDE-D061-CEF2-D0064482B1F2}"/>
              </a:ext>
            </a:extLst>
          </p:cNvPr>
          <p:cNvSpPr txBox="1"/>
          <p:nvPr/>
        </p:nvSpPr>
        <p:spPr>
          <a:xfrm>
            <a:off x="1654504" y="3244334"/>
            <a:ext cx="2337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 N is a power of 2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FC673-DE9C-E213-EDE0-79AE82DB5134}"/>
              </a:ext>
            </a:extLst>
          </p:cNvPr>
          <p:cNvSpPr txBox="1"/>
          <p:nvPr/>
        </p:nvSpPr>
        <p:spPr>
          <a:xfrm>
            <a:off x="1190019" y="2152637"/>
            <a:ext cx="4385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badi" panose="020B0604020104020204" pitchFamily="34" charset="0"/>
              </a:rPr>
              <a:t>hashcode</a:t>
            </a:r>
            <a:r>
              <a:rPr lang="en-US" sz="2400" dirty="0">
                <a:latin typeface="Abadi" panose="020B0604020104020204" pitchFamily="34" charset="0"/>
              </a:rPr>
              <a:t> =   123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N = 8 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123 % 8 =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BD935-E694-EE7D-52D8-E2849738EF69}"/>
              </a:ext>
            </a:extLst>
          </p:cNvPr>
          <p:cNvSpPr txBox="1"/>
          <p:nvPr/>
        </p:nvSpPr>
        <p:spPr>
          <a:xfrm>
            <a:off x="4136373" y="2137762"/>
            <a:ext cx="18130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01111011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        0111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00000011</a:t>
            </a:r>
          </a:p>
        </p:txBody>
      </p:sp>
    </p:spTree>
    <p:extLst>
      <p:ext uri="{BB962C8B-B14F-4D97-AF65-F5344CB8AC3E}">
        <p14:creationId xmlns:p14="http://schemas.microsoft.com/office/powerpoint/2010/main" val="22420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uiExpand="1" build="p"/>
      <p:bldP spid="7" grpId="0"/>
      <p:bldP spid="4" grpId="0" uiExpand="1" build="p"/>
      <p:bldP spid="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BD40-56BC-F965-7BDB-555D0A66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567CF4-C56C-D2B9-0793-3570A377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Compressing Hash Codes (c)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A6C491B2-658E-0253-1FF9-20FF90DE9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B2FC80-52C8-8E7D-0F3E-39096519D1B7}"/>
              </a:ext>
            </a:extLst>
          </p:cNvPr>
          <p:cNvSpPr txBox="1"/>
          <p:nvPr/>
        </p:nvSpPr>
        <p:spPr>
          <a:xfrm>
            <a:off x="-44839" y="1338363"/>
            <a:ext cx="1141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To ensure that hashing is evenly distributed, Java uses a supplemental hash function in HashMap: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633CF-4008-CA00-0CCA-F496B8E5555A}"/>
              </a:ext>
            </a:extLst>
          </p:cNvPr>
          <p:cNvSpPr txBox="1"/>
          <p:nvPr/>
        </p:nvSpPr>
        <p:spPr>
          <a:xfrm>
            <a:off x="706056" y="1984828"/>
            <a:ext cx="629662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index 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=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hashCode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3975F-7DCB-5A1D-9E4A-E0E63595E46C}"/>
              </a:ext>
            </a:extLst>
          </p:cNvPr>
          <p:cNvSpPr txBox="1"/>
          <p:nvPr/>
        </p:nvSpPr>
        <p:spPr>
          <a:xfrm>
            <a:off x="-98385" y="2929914"/>
            <a:ext cx="8624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  /** Hash function */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hashCode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supplementalHash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hashCode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&amp;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6A660-3F3A-429C-D413-7321FA5E1504}"/>
              </a:ext>
            </a:extLst>
          </p:cNvPr>
          <p:cNvSpPr txBox="1"/>
          <p:nvPr/>
        </p:nvSpPr>
        <p:spPr>
          <a:xfrm>
            <a:off x="-98385" y="4861585"/>
            <a:ext cx="72978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  /** Ensure the hashing is evenly distributed */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supplementalHash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^=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D4FAA-B308-9083-0A3D-23C64F1CC70E}"/>
              </a:ext>
            </a:extLst>
          </p:cNvPr>
          <p:cNvSpPr txBox="1"/>
          <p:nvPr/>
        </p:nvSpPr>
        <p:spPr>
          <a:xfrm>
            <a:off x="6096000" y="5278295"/>
            <a:ext cx="4271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^ is bitwise exclusive OR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&gt;&gt;&gt; is unsigned right shift operation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D301D069-59B3-7AFC-B77A-3BAB30E60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452" y="1758160"/>
            <a:ext cx="49925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Object.hashCode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(default):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is often derived from the object’s identity, which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may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be related to memory address, 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Java does not guarantee 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String → based on characters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Integer → the integer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ArrayList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→ contents of the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78170-6EB8-98B0-4C9E-DC4CA7EF3C67}"/>
              </a:ext>
            </a:extLst>
          </p:cNvPr>
          <p:cNvSpPr txBox="1"/>
          <p:nvPr/>
        </p:nvSpPr>
        <p:spPr>
          <a:xfrm>
            <a:off x="6096000" y="4655666"/>
            <a:ext cx="3137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&amp; is a bitwise AND operator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99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11" grpId="0"/>
      <p:bldP spid="13" grpId="0"/>
      <p:bldP spid="14" grpId="0"/>
      <p:bldP spid="15" grpId="0" uiExpand="1" build="p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EA07-11DD-6135-4A41-FFB0815F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A7DBEB-9447-22E3-9549-0D77A4B3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Compressing Hash Codes   (d)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E8A48A52-6847-249C-B20A-C72314EA0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424928-8F41-A8A8-BB12-9FC7B68C251E}"/>
              </a:ext>
            </a:extLst>
          </p:cNvPr>
          <p:cNvSpPr txBox="1"/>
          <p:nvPr/>
        </p:nvSpPr>
        <p:spPr>
          <a:xfrm>
            <a:off x="163512" y="1579705"/>
            <a:ext cx="1141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Example 2:  Understanding bitwise operators &amp;: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10C25-2B6A-5912-09B6-B6C99F787800}"/>
              </a:ext>
            </a:extLst>
          </p:cNvPr>
          <p:cNvSpPr txBox="1"/>
          <p:nvPr/>
        </p:nvSpPr>
        <p:spPr>
          <a:xfrm>
            <a:off x="1190019" y="2152637"/>
            <a:ext cx="4385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badi" panose="020B0604020104020204" pitchFamily="34" charset="0"/>
              </a:rPr>
              <a:t>hashcode</a:t>
            </a:r>
            <a:r>
              <a:rPr lang="en-US" sz="2400" dirty="0">
                <a:latin typeface="Abadi" panose="020B0604020104020204" pitchFamily="34" charset="0"/>
              </a:rPr>
              <a:t> =   123</a:t>
            </a:r>
          </a:p>
          <a:p>
            <a:r>
              <a:rPr lang="en-US" sz="2400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D7FD2-F94A-8450-873F-FCCB7FE1187E}"/>
              </a:ext>
            </a:extLst>
          </p:cNvPr>
          <p:cNvSpPr txBox="1"/>
          <p:nvPr/>
        </p:nvSpPr>
        <p:spPr>
          <a:xfrm>
            <a:off x="4286026" y="2152637"/>
            <a:ext cx="419821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01111011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78C96-6046-7A63-219C-0EB0057A3CA1}"/>
              </a:ext>
            </a:extLst>
          </p:cNvPr>
          <p:cNvSpPr txBox="1"/>
          <p:nvPr/>
        </p:nvSpPr>
        <p:spPr>
          <a:xfrm>
            <a:off x="163512" y="3817266"/>
            <a:ext cx="308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dirty="0">
                <a:solidFill>
                  <a:srgbClr val="001080"/>
                </a:solidFill>
                <a:latin typeface="DejaVu Sans Mono"/>
              </a:rPr>
              <a:t>h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&gt;&gt;&gt; </a:t>
            </a:r>
            <a:r>
              <a:rPr lang="en-US" dirty="0">
                <a:solidFill>
                  <a:srgbClr val="098658"/>
                </a:solidFill>
                <a:latin typeface="DejaVu Sans Mono"/>
              </a:rPr>
              <a:t>2) ^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D6C11-33A5-FF68-9CC2-B88B3B3C17BD}"/>
              </a:ext>
            </a:extLst>
          </p:cNvPr>
          <p:cNvSpPr txBox="1"/>
          <p:nvPr/>
        </p:nvSpPr>
        <p:spPr>
          <a:xfrm>
            <a:off x="1189797" y="2710851"/>
            <a:ext cx="1680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54A85-4468-24A5-51D5-577862997F61}"/>
              </a:ext>
            </a:extLst>
          </p:cNvPr>
          <p:cNvSpPr txBox="1"/>
          <p:nvPr/>
        </p:nvSpPr>
        <p:spPr>
          <a:xfrm>
            <a:off x="4286026" y="2634817"/>
            <a:ext cx="1809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00</a:t>
            </a:r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011110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5F709-4E1B-C5AA-9257-2082223106D9}"/>
              </a:ext>
            </a:extLst>
          </p:cNvPr>
          <p:cNvSpPr txBox="1"/>
          <p:nvPr/>
        </p:nvSpPr>
        <p:spPr>
          <a:xfrm>
            <a:off x="4314838" y="2136338"/>
            <a:ext cx="180997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011110</a:t>
            </a:r>
            <a:r>
              <a:rPr lang="en-US" sz="2400" dirty="0">
                <a:latin typeface="Abadi" panose="020B0604020104020204" pitchFamily="34" charset="0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3F170-1F28-412F-8CA2-268E61F39BB2}"/>
              </a:ext>
            </a:extLst>
          </p:cNvPr>
          <p:cNvSpPr txBox="1"/>
          <p:nvPr/>
        </p:nvSpPr>
        <p:spPr>
          <a:xfrm>
            <a:off x="9095772" y="1535271"/>
            <a:ext cx="30962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&amp; is a bitwise AND operator</a:t>
            </a:r>
          </a:p>
          <a:p>
            <a:r>
              <a:rPr lang="en-US" dirty="0">
                <a:latin typeface="Abadi" panose="020B0604020104020204" pitchFamily="34" charset="0"/>
              </a:rPr>
              <a:t>   where you get 0 for  </a:t>
            </a:r>
          </a:p>
          <a:p>
            <a:r>
              <a:rPr lang="en-US" dirty="0">
                <a:latin typeface="Abadi" panose="020B0604020104020204" pitchFamily="34" charset="0"/>
              </a:rPr>
              <a:t>   everything    </a:t>
            </a:r>
          </a:p>
          <a:p>
            <a:r>
              <a:rPr lang="en-US" dirty="0">
                <a:latin typeface="Abadi" panose="020B0604020104020204" pitchFamily="34" charset="0"/>
              </a:rPr>
              <a:t>   except 1 and 1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^ is bitwise exclusive 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EB8F2-58E1-FCFD-B289-06A430B5D53E}"/>
              </a:ext>
            </a:extLst>
          </p:cNvPr>
          <p:cNvSpPr txBox="1"/>
          <p:nvPr/>
        </p:nvSpPr>
        <p:spPr>
          <a:xfrm>
            <a:off x="4286026" y="3751769"/>
            <a:ext cx="1809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00011001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87A2B9-7E2F-DA3F-F657-49E59C67AC83}"/>
              </a:ext>
            </a:extLst>
          </p:cNvPr>
          <p:cNvSpPr txBox="1"/>
          <p:nvPr/>
        </p:nvSpPr>
        <p:spPr>
          <a:xfrm>
            <a:off x="9301525" y="3267484"/>
            <a:ext cx="13423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XOR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0 ^ 0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0 ^ 1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^ 0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^ 1 =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58C8A4-6499-AE4E-1FFD-606082F424AB}"/>
              </a:ext>
            </a:extLst>
          </p:cNvPr>
          <p:cNvSpPr txBox="1"/>
          <p:nvPr/>
        </p:nvSpPr>
        <p:spPr>
          <a:xfrm>
            <a:off x="1189797" y="3267484"/>
            <a:ext cx="1680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10ED22-6DE5-6BF3-CF9B-C98AD78D9F95}"/>
              </a:ext>
            </a:extLst>
          </p:cNvPr>
          <p:cNvSpPr txBox="1"/>
          <p:nvPr/>
        </p:nvSpPr>
        <p:spPr>
          <a:xfrm>
            <a:off x="4286026" y="3191450"/>
            <a:ext cx="1809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0000</a:t>
            </a:r>
            <a:r>
              <a:rPr lang="en-US" sz="2400" dirty="0">
                <a:solidFill>
                  <a:srgbClr val="008000"/>
                </a:solidFill>
                <a:latin typeface="Abadi" panose="020B0604020104020204" pitchFamily="34" charset="0"/>
              </a:rPr>
              <a:t>0111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94E0D0-1400-A545-30F1-72C4A2475DEE}"/>
              </a:ext>
            </a:extLst>
          </p:cNvPr>
          <p:cNvSpPr txBox="1"/>
          <p:nvPr/>
        </p:nvSpPr>
        <p:spPr>
          <a:xfrm>
            <a:off x="4314838" y="2140024"/>
            <a:ext cx="389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Abadi" panose="020B0604020104020204" pitchFamily="34" charset="0"/>
              </a:rPr>
              <a:t>0111</a:t>
            </a:r>
            <a:r>
              <a:rPr lang="en-US" sz="2400" dirty="0">
                <a:latin typeface="Abadi" panose="020B0604020104020204" pitchFamily="34" charset="0"/>
              </a:rPr>
              <a:t>1011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26F4D4-38E7-50F4-6341-C48C5B1CB73A}"/>
              </a:ext>
            </a:extLst>
          </p:cNvPr>
          <p:cNvSpPr txBox="1"/>
          <p:nvPr/>
        </p:nvSpPr>
        <p:spPr>
          <a:xfrm>
            <a:off x="254178" y="4421646"/>
            <a:ext cx="35519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DejaVu Sans Mono"/>
              </a:rPr>
              <a:t>h = h ^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     (</a:t>
            </a:r>
            <a:r>
              <a:rPr lang="en-US" dirty="0">
                <a:solidFill>
                  <a:srgbClr val="001080"/>
                </a:solidFill>
                <a:latin typeface="DejaVu Sans Mono"/>
              </a:rPr>
              <a:t>h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&gt;&gt;&gt; </a:t>
            </a:r>
            <a:r>
              <a:rPr lang="en-US" dirty="0">
                <a:solidFill>
                  <a:srgbClr val="098658"/>
                </a:solidFill>
                <a:latin typeface="DejaVu Sans Mono"/>
              </a:rPr>
              <a:t>2) ^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A5333D-A0B8-F83E-6859-8C9D65F21ED4}"/>
              </a:ext>
            </a:extLst>
          </p:cNvPr>
          <p:cNvSpPr txBox="1"/>
          <p:nvPr/>
        </p:nvSpPr>
        <p:spPr>
          <a:xfrm>
            <a:off x="4286026" y="4641153"/>
            <a:ext cx="2427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01100010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23A91-4CDB-8F62-4FE2-F03DB869BF15}"/>
              </a:ext>
            </a:extLst>
          </p:cNvPr>
          <p:cNvSpPr txBox="1"/>
          <p:nvPr/>
        </p:nvSpPr>
        <p:spPr>
          <a:xfrm>
            <a:off x="7542015" y="5009859"/>
            <a:ext cx="4595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Capacity =  13      	00001101</a:t>
            </a:r>
          </a:p>
          <a:p>
            <a:endParaRPr lang="en-US" b="1" dirty="0"/>
          </a:p>
          <a:p>
            <a:r>
              <a:rPr lang="en-US" b="1" dirty="0"/>
              <a:t>Capacity &lt;&lt;= 1         </a:t>
            </a:r>
          </a:p>
          <a:p>
            <a:r>
              <a:rPr lang="en-US" b="1" dirty="0"/>
              <a:t>                                   00011010      (26)</a:t>
            </a:r>
          </a:p>
          <a:p>
            <a:r>
              <a:rPr lang="en-US" b="1" dirty="0"/>
              <a:t>Capacity &lt;&lt;=  1</a:t>
            </a:r>
          </a:p>
          <a:p>
            <a:r>
              <a:rPr lang="en-US" b="1" dirty="0"/>
              <a:t>                                   </a:t>
            </a:r>
            <a:r>
              <a:rPr lang="en-US" b="1"/>
              <a:t>00110100      (52)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779DF-70B0-3A75-6999-BC93E46F0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67247" y="6104817"/>
            <a:ext cx="61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77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uiExpand="1" build="p"/>
      <p:bldP spid="9" grpId="0" uiExpand="1" build="p"/>
      <p:bldP spid="8" grpId="0"/>
      <p:bldP spid="11" grpId="0"/>
      <p:bldP spid="12" grpId="0" uiExpand="1" build="p"/>
      <p:bldP spid="13" grpId="0" uiExpand="1" build="p"/>
      <p:bldP spid="17" grpId="0" uiExpand="1" build="p"/>
      <p:bldP spid="20" grpId="0"/>
      <p:bldP spid="21" grpId="0" uiExpand="1" build="p"/>
      <p:bldP spid="22" grpId="0" uiExpand="1" build="p"/>
      <p:bldP spid="23" grpId="0"/>
      <p:bldP spid="24" grpId="0" uiExpand="1" build="p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3B416-1E49-779B-8100-958B5460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ED0DF4-E9F4-4F79-BA0C-68A21EBE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Compressing Hash Codes (e)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40A9B36D-AE33-F051-6727-C2D9CC3FC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9ADE3C-9FEE-0BFD-3F25-B45F44E5AB6E}"/>
              </a:ext>
            </a:extLst>
          </p:cNvPr>
          <p:cNvSpPr txBox="1"/>
          <p:nvPr/>
        </p:nvSpPr>
        <p:spPr>
          <a:xfrm>
            <a:off x="0" y="1241425"/>
            <a:ext cx="72978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  /** Ensure the hashing is evenly distributed */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supplementalHash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^=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6C8F9-6171-748E-2E1C-CCADAD6AC99D}"/>
              </a:ext>
            </a:extLst>
          </p:cNvPr>
          <p:cNvSpPr txBox="1"/>
          <p:nvPr/>
        </p:nvSpPr>
        <p:spPr>
          <a:xfrm>
            <a:off x="3903562" y="287119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00010010001101000101011001111000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8408C-7AEA-FD4A-04AB-842CB657B2D0}"/>
              </a:ext>
            </a:extLst>
          </p:cNvPr>
          <p:cNvSpPr txBox="1"/>
          <p:nvPr/>
        </p:nvSpPr>
        <p:spPr>
          <a:xfrm>
            <a:off x="1853879" y="3447181"/>
            <a:ext cx="1560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20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99B7C-92DF-2D1A-D2A3-253181132418}"/>
              </a:ext>
            </a:extLst>
          </p:cNvPr>
          <p:cNvSpPr txBox="1"/>
          <p:nvPr/>
        </p:nvSpPr>
        <p:spPr>
          <a:xfrm>
            <a:off x="3903562" y="342900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00000000000000000000000100100011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76F937-68A3-B42B-DED3-9B320C351427}"/>
              </a:ext>
            </a:extLst>
          </p:cNvPr>
          <p:cNvSpPr txBox="1"/>
          <p:nvPr/>
        </p:nvSpPr>
        <p:spPr>
          <a:xfrm>
            <a:off x="1851949" y="4201892"/>
            <a:ext cx="1560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12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BECB66-7808-32EF-90D2-2BC2F83681AA}"/>
              </a:ext>
            </a:extLst>
          </p:cNvPr>
          <p:cNvSpPr txBox="1"/>
          <p:nvPr/>
        </p:nvSpPr>
        <p:spPr>
          <a:xfrm>
            <a:off x="3903562" y="422780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00000000000000010010001101000101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2DAA60-4FC6-CC6B-7817-26248A51FF66}"/>
              </a:ext>
            </a:extLst>
          </p:cNvPr>
          <p:cNvSpPr txBox="1"/>
          <p:nvPr/>
        </p:nvSpPr>
        <p:spPr>
          <a:xfrm>
            <a:off x="2541606" y="2835177"/>
            <a:ext cx="870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EFD90B-0D0C-9EA8-E30F-EE17286937CF}"/>
              </a:ext>
            </a:extLst>
          </p:cNvPr>
          <p:cNvSpPr txBox="1"/>
          <p:nvPr/>
        </p:nvSpPr>
        <p:spPr>
          <a:xfrm>
            <a:off x="0" y="5026614"/>
            <a:ext cx="6123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AE07E-F765-B4BA-D7EC-9429EB1D493E}"/>
              </a:ext>
            </a:extLst>
          </p:cNvPr>
          <p:cNvSpPr txBox="1"/>
          <p:nvPr/>
        </p:nvSpPr>
        <p:spPr>
          <a:xfrm>
            <a:off x="3903562" y="498288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00000000000000010010001001100110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DBFD22-03EA-5F69-3615-1014FE411D45}"/>
              </a:ext>
            </a:extLst>
          </p:cNvPr>
          <p:cNvSpPr txBox="1"/>
          <p:nvPr/>
        </p:nvSpPr>
        <p:spPr>
          <a:xfrm>
            <a:off x="2459621" y="5939708"/>
            <a:ext cx="6123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^= 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84C6D9-8779-CEE6-2D15-ECE05602E189}"/>
              </a:ext>
            </a:extLst>
          </p:cNvPr>
          <p:cNvSpPr txBox="1"/>
          <p:nvPr/>
        </p:nvSpPr>
        <p:spPr>
          <a:xfrm>
            <a:off x="3903562" y="5616575"/>
            <a:ext cx="513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00010010001101000101011001111000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DEDB59-1B94-1263-EB92-F709EDA8ED68}"/>
              </a:ext>
            </a:extLst>
          </p:cNvPr>
          <p:cNvSpPr txBox="1"/>
          <p:nvPr/>
        </p:nvSpPr>
        <p:spPr>
          <a:xfrm>
            <a:off x="3892954" y="596280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00010010001101010111010000011110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287E14-D3B4-58E1-5613-55912CADAEE3}"/>
              </a:ext>
            </a:extLst>
          </p:cNvPr>
          <p:cNvSpPr txBox="1"/>
          <p:nvPr/>
        </p:nvSpPr>
        <p:spPr>
          <a:xfrm>
            <a:off x="2427306" y="5614840"/>
            <a:ext cx="870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B5C7D-F98B-ACBA-AAD9-11B388EF0CC0}"/>
              </a:ext>
            </a:extLst>
          </p:cNvPr>
          <p:cNvSpPr txBox="1"/>
          <p:nvPr/>
        </p:nvSpPr>
        <p:spPr>
          <a:xfrm>
            <a:off x="9764694" y="2827267"/>
            <a:ext cx="21991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hash tables often use low bits to choose buckets…</a:t>
            </a:r>
          </a:p>
          <a:p>
            <a:endParaRPr lang="en-US" dirty="0"/>
          </a:p>
          <a:p>
            <a:r>
              <a:rPr lang="en-US" dirty="0"/>
              <a:t>This shifting mixes high bits into low bits….</a:t>
            </a:r>
          </a:p>
          <a:p>
            <a:endParaRPr lang="en-US" dirty="0"/>
          </a:p>
          <a:p>
            <a:r>
              <a:rPr lang="en-US" dirty="0"/>
              <a:t>The second shift diffuses the values even more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51DF00-0E6A-1536-3E73-3955EA252396}"/>
              </a:ext>
            </a:extLst>
          </p:cNvPr>
          <p:cNvSpPr txBox="1"/>
          <p:nvPr/>
        </p:nvSpPr>
        <p:spPr>
          <a:xfrm>
            <a:off x="3903562" y="286678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000100100011</a:t>
            </a:r>
            <a:r>
              <a:rPr lang="en-US" dirty="0">
                <a:latin typeface="Abadi" panose="020B0604020104020204" pitchFamily="34" charset="0"/>
              </a:rPr>
              <a:t>01000101011001111000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6A7E42-78BC-BF36-1F70-82DE2F0E2631}"/>
              </a:ext>
            </a:extLst>
          </p:cNvPr>
          <p:cNvSpPr txBox="1"/>
          <p:nvPr/>
        </p:nvSpPr>
        <p:spPr>
          <a:xfrm>
            <a:off x="3903562" y="342941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00000000000000000000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000100100011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BEAD63-CAD2-A4E3-B5AA-64F00AA33780}"/>
              </a:ext>
            </a:extLst>
          </p:cNvPr>
          <p:cNvSpPr txBox="1"/>
          <p:nvPr/>
        </p:nvSpPr>
        <p:spPr>
          <a:xfrm>
            <a:off x="3903562" y="285753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badi" panose="020B0604020104020204" pitchFamily="34" charset="0"/>
              </a:rPr>
              <a:t>00010010001101000101</a:t>
            </a:r>
            <a:r>
              <a:rPr lang="en-US" dirty="0">
                <a:latin typeface="Abadi" panose="020B0604020104020204" pitchFamily="34" charset="0"/>
              </a:rPr>
              <a:t>011001111000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DB3079-8985-49D0-A17B-019A6FA3AB5A}"/>
              </a:ext>
            </a:extLst>
          </p:cNvPr>
          <p:cNvSpPr txBox="1"/>
          <p:nvPr/>
        </p:nvSpPr>
        <p:spPr>
          <a:xfrm>
            <a:off x="3903562" y="422780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000000000000</a:t>
            </a:r>
            <a:r>
              <a:rPr lang="en-US" dirty="0">
                <a:solidFill>
                  <a:srgbClr val="0070C0"/>
                </a:solidFill>
                <a:latin typeface="Abadi" panose="020B0604020104020204" pitchFamily="34" charset="0"/>
              </a:rPr>
              <a:t>00010010001101000101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5DFA0F9-56E4-C64E-0400-A3E7262F3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625296" y="2718753"/>
            <a:ext cx="0" cy="710247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1D9658-7614-1925-8126-778E606A1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26820" y="2718753"/>
            <a:ext cx="0" cy="710247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42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2" grpId="0"/>
      <p:bldP spid="16" grpId="0"/>
      <p:bldP spid="18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BB3E-594A-711D-850B-6E1F3789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F1052B-DAA3-4E81-4C68-04C87349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Compressing Hash Codes (f)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7418" name="Picture 19">
            <a:extLst>
              <a:ext uri="{FF2B5EF4-FFF2-40B4-BE49-F238E27FC236}">
                <a16:creationId xmlns:a16="http://schemas.microsoft.com/office/drawing/2014/main" id="{FE8433C6-8CA4-5ACD-4C6A-5A6A9FB85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DDCA1F-65BE-1875-627A-F203A203ED5B}"/>
              </a:ext>
            </a:extLst>
          </p:cNvPr>
          <p:cNvSpPr txBox="1"/>
          <p:nvPr/>
        </p:nvSpPr>
        <p:spPr>
          <a:xfrm>
            <a:off x="0" y="1241425"/>
            <a:ext cx="72978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  /** Ensure the hashing is evenly distributed */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supplementalHash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^=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25565-9A6C-10EC-B18E-A4415646C8B7}"/>
              </a:ext>
            </a:extLst>
          </p:cNvPr>
          <p:cNvSpPr txBox="1"/>
          <p:nvPr/>
        </p:nvSpPr>
        <p:spPr>
          <a:xfrm>
            <a:off x="1853879" y="3447181"/>
            <a:ext cx="1560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dirty="0">
                <a:solidFill>
                  <a:srgbClr val="098658"/>
                </a:solidFill>
                <a:latin typeface="DejaVu Sans Mono"/>
              </a:rPr>
              <a:t>7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B30441-2385-0882-E490-EE817D136D8F}"/>
              </a:ext>
            </a:extLst>
          </p:cNvPr>
          <p:cNvSpPr txBox="1"/>
          <p:nvPr/>
        </p:nvSpPr>
        <p:spPr>
          <a:xfrm>
            <a:off x="1851949" y="4201892"/>
            <a:ext cx="1560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dirty="0">
                <a:solidFill>
                  <a:srgbClr val="098658"/>
                </a:solidFill>
                <a:latin typeface="DejaVu Sans Mono"/>
              </a:rPr>
              <a:t>4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13FAF6-00A7-2435-27CB-6B8C8DEA3D39}"/>
              </a:ext>
            </a:extLst>
          </p:cNvPr>
          <p:cNvSpPr txBox="1"/>
          <p:nvPr/>
        </p:nvSpPr>
        <p:spPr>
          <a:xfrm>
            <a:off x="2541606" y="2835177"/>
            <a:ext cx="870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7179BF-CEEC-898D-6F19-8CC8DC4433B5}"/>
              </a:ext>
            </a:extLst>
          </p:cNvPr>
          <p:cNvSpPr txBox="1"/>
          <p:nvPr/>
        </p:nvSpPr>
        <p:spPr>
          <a:xfrm>
            <a:off x="0" y="5026614"/>
            <a:ext cx="6123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dirty="0">
                <a:solidFill>
                  <a:srgbClr val="098658"/>
                </a:solidFill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BBDDD1-FBC8-FB69-EF18-42A022C77567}"/>
              </a:ext>
            </a:extLst>
          </p:cNvPr>
          <p:cNvSpPr txBox="1"/>
          <p:nvPr/>
        </p:nvSpPr>
        <p:spPr>
          <a:xfrm>
            <a:off x="3903562" y="283197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00010010001101010111010000011110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D44609-AA86-58CB-FAB8-BBF5B46E468E}"/>
              </a:ext>
            </a:extLst>
          </p:cNvPr>
          <p:cNvSpPr txBox="1"/>
          <p:nvPr/>
        </p:nvSpPr>
        <p:spPr>
          <a:xfrm>
            <a:off x="2404156" y="5696244"/>
            <a:ext cx="870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FB1CFC-535B-80A7-36A3-1A7ED3C6DAD4}"/>
              </a:ext>
            </a:extLst>
          </p:cNvPr>
          <p:cNvSpPr txBox="1"/>
          <p:nvPr/>
        </p:nvSpPr>
        <p:spPr>
          <a:xfrm>
            <a:off x="9764694" y="2827267"/>
            <a:ext cx="21991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hash tables often use low bits to choose buckets…</a:t>
            </a:r>
          </a:p>
          <a:p>
            <a:endParaRPr lang="en-US" dirty="0"/>
          </a:p>
          <a:p>
            <a:r>
              <a:rPr lang="en-US" dirty="0"/>
              <a:t>This shifting mixes high bits into low bits….</a:t>
            </a:r>
          </a:p>
          <a:p>
            <a:endParaRPr lang="en-US" dirty="0"/>
          </a:p>
          <a:p>
            <a:r>
              <a:rPr lang="en-US" dirty="0"/>
              <a:t>The second shift diffuses the values even more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42E0E4-4A29-8221-E589-A8F4AB39DEB5}"/>
              </a:ext>
            </a:extLst>
          </p:cNvPr>
          <p:cNvSpPr txBox="1"/>
          <p:nvPr/>
        </p:nvSpPr>
        <p:spPr>
          <a:xfrm>
            <a:off x="3903562" y="348680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</a:t>
            </a:r>
            <a:r>
              <a:rPr lang="en-US" dirty="0">
                <a:solidFill>
                  <a:srgbClr val="008000"/>
                </a:solidFill>
                <a:latin typeface="Abadi" panose="020B0604020104020204" pitchFamily="34" charset="0"/>
              </a:rPr>
              <a:t>0001001000110101011101000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384FE3-CFD1-F9A7-14DD-1F24B5B1F002}"/>
              </a:ext>
            </a:extLst>
          </p:cNvPr>
          <p:cNvSpPr txBox="1"/>
          <p:nvPr/>
        </p:nvSpPr>
        <p:spPr>
          <a:xfrm>
            <a:off x="3903562" y="510143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00000001000001110011110110101001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A0EDDA-ED25-A7C0-A8D6-2107DA60D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54096" y="2718752"/>
            <a:ext cx="0" cy="710247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AEEA58-5DCF-34E9-FED4-9A0235108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72714" y="2718752"/>
            <a:ext cx="0" cy="710247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D63C0E0-7551-442A-DF08-DDFA77D162FA}"/>
              </a:ext>
            </a:extLst>
          </p:cNvPr>
          <p:cNvSpPr txBox="1"/>
          <p:nvPr/>
        </p:nvSpPr>
        <p:spPr>
          <a:xfrm>
            <a:off x="3903562" y="420849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0000</a:t>
            </a:r>
            <a:r>
              <a:rPr lang="en-US" dirty="0">
                <a:solidFill>
                  <a:srgbClr val="0070C0"/>
                </a:solidFill>
                <a:latin typeface="Abadi" panose="020B0604020104020204" pitchFamily="34" charset="0"/>
              </a:rPr>
              <a:t>0001001000110101011101000001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44DE8-6798-E798-C96C-4B8F1CC98E64}"/>
              </a:ext>
            </a:extLst>
          </p:cNvPr>
          <p:cNvSpPr txBox="1"/>
          <p:nvPr/>
        </p:nvSpPr>
        <p:spPr>
          <a:xfrm>
            <a:off x="28936" y="6124374"/>
            <a:ext cx="62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^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&gt;&gt;&gt;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1D2FE-CB73-6FAC-306E-FB38EB02C9A3}"/>
              </a:ext>
            </a:extLst>
          </p:cNvPr>
          <p:cNvSpPr txBox="1"/>
          <p:nvPr/>
        </p:nvSpPr>
        <p:spPr>
          <a:xfrm>
            <a:off x="3903562" y="568022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00010010001101010111010000011110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26ADA-364C-BA17-686F-EDE0DB00A68C}"/>
              </a:ext>
            </a:extLst>
          </p:cNvPr>
          <p:cNvSpPr txBox="1"/>
          <p:nvPr/>
        </p:nvSpPr>
        <p:spPr>
          <a:xfrm>
            <a:off x="3903562" y="6236715"/>
            <a:ext cx="62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00010011001100100100100110110111</a:t>
            </a:r>
          </a:p>
        </p:txBody>
      </p:sp>
    </p:spTree>
    <p:extLst>
      <p:ext uri="{BB962C8B-B14F-4D97-AF65-F5344CB8AC3E}">
        <p14:creationId xmlns:p14="http://schemas.microsoft.com/office/powerpoint/2010/main" val="217510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8" grpId="0"/>
      <p:bldP spid="20" grpId="0"/>
      <p:bldP spid="25" grpId="0"/>
      <p:bldP spid="26" grpId="0"/>
      <p:bldP spid="27" grpId="0"/>
      <p:bldP spid="29" grpId="0"/>
      <p:bldP spid="2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1AFF35-E642-494F-8BEE-14201B4E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Ways to Resolve Collision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24C78-6BDC-AA09-455A-E66F91FF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130" y="1859340"/>
            <a:ext cx="1096645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en-US" sz="3200" dirty="0"/>
              <a:t>Open addressing</a:t>
            </a:r>
          </a:p>
          <a:p>
            <a:pPr marL="857250" lvl="1" indent="-457200">
              <a:lnSpc>
                <a:spcPct val="100000"/>
              </a:lnSpc>
              <a:spcBef>
                <a:spcPct val="0"/>
              </a:spcBef>
            </a:pPr>
            <a:r>
              <a:rPr lang="en-US" altLang="en-US" sz="2800" dirty="0"/>
              <a:t>Linear probing</a:t>
            </a:r>
          </a:p>
          <a:p>
            <a:pPr marL="857250" lvl="1" indent="-457200">
              <a:lnSpc>
                <a:spcPct val="100000"/>
              </a:lnSpc>
              <a:spcBef>
                <a:spcPct val="0"/>
              </a:spcBef>
            </a:pPr>
            <a:r>
              <a:rPr lang="en-US" altLang="en-US" sz="2800" dirty="0"/>
              <a:t>Quadratic probing</a:t>
            </a:r>
          </a:p>
          <a:p>
            <a:pPr marL="857250" lvl="1" indent="-457200">
              <a:lnSpc>
                <a:spcPct val="100000"/>
              </a:lnSpc>
              <a:spcBef>
                <a:spcPct val="0"/>
              </a:spcBef>
            </a:pPr>
            <a:r>
              <a:rPr lang="en-US" altLang="en-US" sz="2800" dirty="0"/>
              <a:t>Double hashing</a:t>
            </a: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lt"/>
              <a:buAutoNum type="alphaUcPeriod"/>
            </a:pPr>
            <a:endParaRPr lang="en-US" altLang="en-US" sz="3200" dirty="0"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en-US" sz="3200" dirty="0">
                <a:ea typeface="Cambria Math" panose="02040503050406030204" pitchFamily="18" charset="0"/>
                <a:cs typeface="Cambria Math" panose="02040503050406030204" pitchFamily="18" charset="0"/>
              </a:rPr>
              <a:t>Chaining</a:t>
            </a:r>
          </a:p>
        </p:txBody>
      </p:sp>
      <p:pic>
        <p:nvPicPr>
          <p:cNvPr id="19460" name="Picture 19">
            <a:extLst>
              <a:ext uri="{FF2B5EF4-FFF2-40B4-BE49-F238E27FC236}">
                <a16:creationId xmlns:a16="http://schemas.microsoft.com/office/drawing/2014/main" id="{2D5CAAEA-048A-B6C0-DB0D-443F88676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A51417-87DF-9411-CE1E-E2614A18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8428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A:  Open Addressing </a:t>
            </a:r>
            <a:r>
              <a:rPr lang="en-US" dirty="0">
                <a:solidFill>
                  <a:srgbClr val="0070C0"/>
                </a:solidFill>
                <a:latin typeface="+mn-lt"/>
              </a:rPr>
              <a:t>- Linear Probing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A4BD65-3F08-C012-DF43-659B8107E6DD}"/>
              </a:ext>
            </a:extLst>
          </p:cNvPr>
          <p:cNvSpPr/>
          <p:nvPr/>
        </p:nvSpPr>
        <p:spPr>
          <a:xfrm>
            <a:off x="6130131" y="1604169"/>
            <a:ext cx="2560638" cy="579437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Search Termination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A52E9-201C-B387-FAB6-09BB2C7A9F32}"/>
              </a:ext>
            </a:extLst>
          </p:cNvPr>
          <p:cNvSpPr/>
          <p:nvPr/>
        </p:nvSpPr>
        <p:spPr>
          <a:xfrm>
            <a:off x="103804" y="2252226"/>
            <a:ext cx="5603875" cy="3785652"/>
          </a:xfrm>
          <a:prstGeom prst="rect">
            <a:avLst/>
          </a:prstGeom>
          <a:solidFill>
            <a:srgbClr val="F7F7F7"/>
          </a:solidFill>
        </p:spPr>
        <p:txBody>
          <a:bodyPr>
            <a:spAutoFit/>
          </a:bodyPr>
          <a:lstStyle/>
          <a:p>
            <a:pPr eaLnBrk="1" hangingPunct="1">
              <a:buClr>
                <a:schemeClr val="bg1">
                  <a:lumMod val="75000"/>
                </a:schemeClr>
              </a:buClr>
              <a:defRPr/>
            </a:pPr>
            <a:r>
              <a:rPr lang="en-US" sz="2000" dirty="0"/>
              <a:t>1.   Compute </a:t>
            </a:r>
            <a:r>
              <a:rPr lang="en-US" sz="2000" b="1" dirty="0"/>
              <a:t>index</a:t>
            </a:r>
            <a:r>
              <a:rPr lang="en-US" sz="2000" dirty="0"/>
              <a:t> as</a:t>
            </a:r>
          </a:p>
          <a:p>
            <a:pPr eaLnBrk="1" hangingPunct="1">
              <a:buClr>
                <a:schemeClr val="bg1">
                  <a:lumMod val="75000"/>
                </a:schemeClr>
              </a:buClr>
              <a:defRPr/>
            </a:pPr>
            <a:r>
              <a:rPr lang="en-US" sz="2000" dirty="0"/>
              <a:t>           </a:t>
            </a:r>
            <a:r>
              <a:rPr lang="en-US" sz="2000" b="1" dirty="0" err="1">
                <a:latin typeface="Courier New" panose="02070309020205020404" pitchFamily="49" charset="0"/>
              </a:rPr>
              <a:t>hash_fcn</a:t>
            </a:r>
            <a:r>
              <a:rPr lang="en-US" sz="2000" b="1" dirty="0">
                <a:latin typeface="Courier New" panose="02070309020205020404" pitchFamily="49" charset="0"/>
              </a:rPr>
              <a:t>() % </a:t>
            </a:r>
            <a:r>
              <a:rPr lang="en-US" sz="2000" b="1" dirty="0" err="1">
                <a:latin typeface="Courier New" panose="02070309020205020404" pitchFamily="49" charset="0"/>
              </a:rPr>
              <a:t>table.size</a:t>
            </a:r>
            <a:r>
              <a:rPr lang="en-US" sz="2000" b="1" dirty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buClr>
                <a:schemeClr val="bg1">
                  <a:lumMod val="75000"/>
                </a:schemeClr>
              </a:buClr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2.    </a:t>
            </a:r>
            <a:r>
              <a:rPr lang="en-US" sz="2000" b="1" dirty="0"/>
              <a:t>if</a:t>
            </a:r>
            <a:r>
              <a:rPr lang="en-US" sz="2000" dirty="0"/>
              <a:t> table[index] == NULL</a:t>
            </a:r>
          </a:p>
          <a:p>
            <a:pPr eaLnBrk="1" hangingPunct="1">
              <a:buClr>
                <a:schemeClr val="bg1">
                  <a:lumMod val="75000"/>
                </a:schemeClr>
              </a:buClr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3.             </a:t>
            </a:r>
            <a:r>
              <a:rPr lang="en-US" sz="2000" dirty="0"/>
              <a:t>item is not in the table.</a:t>
            </a:r>
          </a:p>
          <a:p>
            <a:pPr eaLnBrk="1" hangingPunct="1">
              <a:buClr>
                <a:schemeClr val="bg1">
                  <a:lumMod val="75000"/>
                </a:schemeClr>
              </a:buClr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4.    </a:t>
            </a:r>
            <a:r>
              <a:rPr lang="en-US" sz="2000" b="1" dirty="0"/>
              <a:t>else if</a:t>
            </a:r>
            <a:r>
              <a:rPr lang="en-US" sz="2000" dirty="0"/>
              <a:t> table[index] matches item</a:t>
            </a:r>
          </a:p>
          <a:p>
            <a:pPr eaLnBrk="1" hangingPunct="1">
              <a:buClr>
                <a:schemeClr val="bg1">
                  <a:lumMod val="75000"/>
                </a:schemeClr>
              </a:buClr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5.            </a:t>
            </a:r>
            <a:r>
              <a:rPr lang="en-US" sz="2000" dirty="0"/>
              <a:t>The item is in the table.</a:t>
            </a:r>
          </a:p>
          <a:p>
            <a:pPr marL="457200" indent="-457200" eaLnBrk="1" hangingPunct="1">
              <a:buClr>
                <a:schemeClr val="bg1">
                  <a:lumMod val="75000"/>
                </a:schemeClr>
              </a:buClr>
              <a:buAutoNum type="arabicPeriod" startAt="6"/>
              <a:defRPr/>
            </a:pPr>
            <a:r>
              <a:rPr lang="en-US" sz="2000" b="1" dirty="0"/>
              <a:t>else</a:t>
            </a:r>
          </a:p>
          <a:p>
            <a:pPr marL="457200" indent="-457200" eaLnBrk="1" hangingPunct="1">
              <a:buClr>
                <a:schemeClr val="bg1">
                  <a:lumMod val="75000"/>
                </a:schemeClr>
              </a:buClr>
              <a:buAutoNum type="arabicPeriod" startAt="6"/>
              <a:defRPr/>
            </a:pPr>
            <a:r>
              <a:rPr lang="en-US" sz="2000" dirty="0"/>
              <a:t>Continue to search the table by incrementing the index until either the item is found or a NULL entry is found.</a:t>
            </a:r>
          </a:p>
          <a:p>
            <a:pPr marL="342900" indent="-342900" eaLnBrk="1" hangingPunct="1">
              <a:buFontTx/>
              <a:buAutoNum type="arabicPeriod" startAt="6"/>
              <a:defRPr/>
            </a:pPr>
            <a:endParaRPr lang="en-US" sz="2000" dirty="0"/>
          </a:p>
          <a:p>
            <a:pPr eaLnBrk="1" hangingPunct="1">
              <a:defRPr/>
            </a:pPr>
            <a:endParaRPr lang="en-US" sz="2000" dirty="0"/>
          </a:p>
        </p:txBody>
      </p:sp>
      <p:sp>
        <p:nvSpPr>
          <p:cNvPr id="20" name="Rectangle 19" descr="image of ways to stop looking for a value using linear probing">
            <a:extLst>
              <a:ext uri="{FF2B5EF4-FFF2-40B4-BE49-F238E27FC236}">
                <a16:creationId xmlns:a16="http://schemas.microsoft.com/office/drawing/2014/main" id="{C879C5CB-B2EE-D2F8-3136-D69C5998A27F}"/>
              </a:ext>
            </a:extLst>
          </p:cNvPr>
          <p:cNvSpPr/>
          <p:nvPr/>
        </p:nvSpPr>
        <p:spPr>
          <a:xfrm>
            <a:off x="6096000" y="2376488"/>
            <a:ext cx="5849938" cy="3693319"/>
          </a:xfrm>
          <a:prstGeom prst="rect">
            <a:avLst/>
          </a:prstGeom>
          <a:solidFill>
            <a:srgbClr val="F7F7F7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8059BB-9971-F591-EA16-0AEB90552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465" y="2558345"/>
            <a:ext cx="350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/>
              <a:t>Ways to obtain proper termination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51B87-D0AF-50DB-D749-9F8A3444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2" y="3121115"/>
            <a:ext cx="5432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/>
              <a:t>Stop when you come back to your starting point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EAAF0-6B57-C8D1-1F49-7B080CB47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2" y="3610065"/>
            <a:ext cx="53546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Stop after probing N slots, where N is table size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7C7E5-1466-1C9A-03F3-0E8118243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2" y="4145052"/>
            <a:ext cx="3038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/>
              <a:t>Ensure table never full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887B53-67C2-4980-4375-744AA86B9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2" y="4630827"/>
            <a:ext cx="5808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1"/>
              <a:t>Reallocate when occupancy exceeds threshold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BFA1FD-A6A5-60B7-645A-664D719A514C}"/>
              </a:ext>
            </a:extLst>
          </p:cNvPr>
          <p:cNvSpPr/>
          <p:nvPr/>
        </p:nvSpPr>
        <p:spPr>
          <a:xfrm>
            <a:off x="163513" y="1531144"/>
            <a:ext cx="4381500" cy="560387"/>
          </a:xfrm>
          <a:prstGeom prst="roundRect">
            <a:avLst/>
          </a:prstGeom>
          <a:solidFill>
            <a:schemeClr val="tx1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Finding an item with  a specific hash key.</a:t>
            </a:r>
          </a:p>
        </p:txBody>
      </p:sp>
      <p:pic>
        <p:nvPicPr>
          <p:cNvPr id="21516" name="Picture 19">
            <a:extLst>
              <a:ext uri="{FF2B5EF4-FFF2-40B4-BE49-F238E27FC236}">
                <a16:creationId xmlns:a16="http://schemas.microsoft.com/office/drawing/2014/main" id="{55EB30A5-D2E1-40CC-CB33-723BBF51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  <p:bldP spid="20" grpId="0" animBg="1"/>
      <p:bldP spid="3" grpId="0"/>
      <p:bldP spid="4" grpId="0"/>
      <p:bldP spid="6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2AA8E-2EF8-E546-B039-D5EE3E45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 A: Open Addressing (Linear Probing) </a:t>
            </a:r>
            <a:r>
              <a:rPr lang="en-US" sz="4000" dirty="0">
                <a:solidFill>
                  <a:srgbClr val="0070C0"/>
                </a:solidFill>
                <a:latin typeface="+mn-lt"/>
              </a:rPr>
              <a:t>– Example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A7C9AE-9733-5BF4-AC4D-237A32863CD2}"/>
              </a:ext>
            </a:extLst>
          </p:cNvPr>
          <p:cNvGraphicFramePr>
            <a:graphicFrameLocks noGrp="1"/>
          </p:cNvGraphicFramePr>
          <p:nvPr/>
        </p:nvGraphicFramePr>
        <p:xfrm>
          <a:off x="211138" y="1785938"/>
          <a:ext cx="6011862" cy="2078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6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hash_fcn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hash_fcn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()%5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hash_fcn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()%11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84274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2129869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69496448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82879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2484038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30" marR="91430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BE21CA-9EC4-96D5-71C6-F1A204AF0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73972"/>
              </p:ext>
            </p:extLst>
          </p:nvPr>
        </p:nvGraphicFramePr>
        <p:xfrm>
          <a:off x="6427788" y="1808163"/>
          <a:ext cx="1906587" cy="168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23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3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3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3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3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BF14E9-986A-9332-C962-43337D766BF0}"/>
              </a:ext>
            </a:extLst>
          </p:cNvPr>
          <p:cNvGraphicFramePr>
            <a:graphicFrameLocks noGrp="1"/>
          </p:cNvGraphicFramePr>
          <p:nvPr/>
        </p:nvGraphicFramePr>
        <p:xfrm>
          <a:off x="6899275" y="3155950"/>
          <a:ext cx="1439863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376" marR="91376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18E2F1C-6B6D-7A92-9130-34F09B7624C0}"/>
              </a:ext>
            </a:extLst>
          </p:cNvPr>
          <p:cNvGraphicFramePr>
            <a:graphicFrameLocks noGrp="1"/>
          </p:cNvGraphicFramePr>
          <p:nvPr/>
        </p:nvGraphicFramePr>
        <p:xfrm>
          <a:off x="6896100" y="1811338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7B4902A-1553-285F-A2F8-87F2CCBACD3E}"/>
              </a:ext>
            </a:extLst>
          </p:cNvPr>
          <p:cNvGraphicFramePr>
            <a:graphicFrameLocks noGrp="1"/>
          </p:cNvGraphicFramePr>
          <p:nvPr/>
        </p:nvGraphicFramePr>
        <p:xfrm>
          <a:off x="6900863" y="2819400"/>
          <a:ext cx="1441450" cy="334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477" marR="91477" marT="45505" marB="45505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A9C305A-C255-E88B-E678-FFA61B9F373C}"/>
              </a:ext>
            </a:extLst>
          </p:cNvPr>
          <p:cNvGraphicFramePr>
            <a:graphicFrameLocks noGrp="1"/>
          </p:cNvGraphicFramePr>
          <p:nvPr/>
        </p:nvGraphicFramePr>
        <p:xfrm>
          <a:off x="6891338" y="2144713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84F440F-71B4-D9E5-7B79-0FD1F10FC674}"/>
              </a:ext>
            </a:extLst>
          </p:cNvPr>
          <p:cNvGraphicFramePr>
            <a:graphicFrameLocks noGrp="1"/>
          </p:cNvGraphicFramePr>
          <p:nvPr/>
        </p:nvGraphicFramePr>
        <p:xfrm>
          <a:off x="6896100" y="2479675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477" marR="91477" marT="45866" marB="45866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9B85A7F3-2492-15E3-EF1B-8154A7958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3148013"/>
            <a:ext cx="763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EC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5BFBF6-9F18-94F1-E4D2-D38C7725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1762125"/>
            <a:ext cx="76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E6E579-0775-884C-0424-A6DFE3179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2779713"/>
            <a:ext cx="76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CB9053-D0DF-70BE-2531-B3B7AB392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2130425"/>
            <a:ext cx="763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0EB653-CB94-18F4-65C6-5DA087B1D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2455863"/>
            <a:ext cx="76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4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1EA2C46-46EA-DC66-0EBC-FD717066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789467"/>
              </p:ext>
            </p:extLst>
          </p:nvPr>
        </p:nvGraphicFramePr>
        <p:xfrm>
          <a:off x="9296400" y="1817688"/>
          <a:ext cx="1906588" cy="3698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650A02D-5947-19A1-A0EA-122739BC5C12}"/>
              </a:ext>
            </a:extLst>
          </p:cNvPr>
          <p:cNvGraphicFramePr>
            <a:graphicFrameLocks noGrp="1"/>
          </p:cNvGraphicFramePr>
          <p:nvPr/>
        </p:nvGraphicFramePr>
        <p:xfrm>
          <a:off x="9753600" y="2828925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0FD3BBD3-A08D-3954-7877-A4402388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1350" y="28067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0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B0F53AF-1073-5099-4C9C-95901D1430FB}"/>
              </a:ext>
            </a:extLst>
          </p:cNvPr>
          <p:cNvGraphicFramePr>
            <a:graphicFrameLocks noGrp="1"/>
          </p:cNvGraphicFramePr>
          <p:nvPr/>
        </p:nvGraphicFramePr>
        <p:xfrm>
          <a:off x="9755188" y="3503613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2AAA1FA9-E9FF-5BDC-A010-5A6902109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1350" y="3490913"/>
            <a:ext cx="76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0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FD88E29-96FC-EA9B-3CBD-E33CEA077A27}"/>
              </a:ext>
            </a:extLst>
          </p:cNvPr>
          <p:cNvGraphicFramePr>
            <a:graphicFrameLocks noGrp="1"/>
          </p:cNvGraphicFramePr>
          <p:nvPr/>
        </p:nvGraphicFramePr>
        <p:xfrm>
          <a:off x="9755188" y="5186363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82E97D50-A85B-622A-1A7F-F0D41769C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1350" y="5157788"/>
            <a:ext cx="76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0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5836811-3D2B-C656-B12D-FC145B03FA32}"/>
              </a:ext>
            </a:extLst>
          </p:cNvPr>
          <p:cNvGraphicFramePr>
            <a:graphicFrameLocks noGrp="1"/>
          </p:cNvGraphicFramePr>
          <p:nvPr/>
        </p:nvGraphicFramePr>
        <p:xfrm>
          <a:off x="9755188" y="3830638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CB932889-CE7A-683B-9703-3B91853C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8813" y="3846513"/>
            <a:ext cx="763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1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8C729A4-3C75-651D-374E-711EA8D3A8E6}"/>
              </a:ext>
            </a:extLst>
          </p:cNvPr>
          <p:cNvGraphicFramePr>
            <a:graphicFrameLocks noGrp="1"/>
          </p:cNvGraphicFramePr>
          <p:nvPr/>
        </p:nvGraphicFramePr>
        <p:xfrm>
          <a:off x="9759950" y="4162425"/>
          <a:ext cx="1439863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376" marR="91376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68C1CBD6-7C2A-E9D1-2A7F-B7078EB4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4050" y="4146550"/>
            <a:ext cx="763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8EC0"/>
                </a:solidFill>
              </a:rPr>
              <a:t>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167C454-FFFB-AC7B-8B96-329EAF3981DC}"/>
              </a:ext>
            </a:extLst>
          </p:cNvPr>
          <p:cNvSpPr/>
          <p:nvPr/>
        </p:nvSpPr>
        <p:spPr>
          <a:xfrm>
            <a:off x="250825" y="4349750"/>
            <a:ext cx="7118350" cy="579438"/>
          </a:xfrm>
          <a:prstGeom prst="roundRect">
            <a:avLst/>
          </a:prstGeom>
          <a:solidFill>
            <a:srgbClr val="008E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Increasing the table size reduces the probability of a collision</a:t>
            </a:r>
          </a:p>
        </p:txBody>
      </p:sp>
      <p:pic>
        <p:nvPicPr>
          <p:cNvPr id="23721" name="Picture 19">
            <a:extLst>
              <a:ext uri="{FF2B5EF4-FFF2-40B4-BE49-F238E27FC236}">
                <a16:creationId xmlns:a16="http://schemas.microsoft.com/office/drawing/2014/main" id="{F6359264-9C50-FE9C-F31A-6E6A0B5DF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30" grpId="0"/>
      <p:bldP spid="32" grpId="0"/>
      <p:bldP spid="34" grpId="0"/>
      <p:bldP spid="36" grpId="0"/>
      <p:bldP spid="38" grpId="0"/>
      <p:bldP spid="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9E6F85-C2F2-C81F-D2F7-58246F3BF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 A: Reducing Collisions by Expanding the Table Size</a:t>
            </a:r>
            <a:endParaRPr lang="en-US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2D806E-719A-9667-9401-1F3CD4D2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674813"/>
            <a:ext cx="65420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Use a prime number for the size of the table.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8BD7F-8334-1295-27BF-926099400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359025"/>
            <a:ext cx="67183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The probability of a collision is proportional to how full the table is. Hence, when the hash table becomes sufficiently full, a larger table should be allocated and the entries reinserted.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2A7F00-4EB9-B0E2-69D1-EC44B1601704}"/>
              </a:ext>
            </a:extLst>
          </p:cNvPr>
          <p:cNvGraphicFramePr>
            <a:graphicFrameLocks noGrp="1"/>
          </p:cNvGraphicFramePr>
          <p:nvPr/>
        </p:nvGraphicFramePr>
        <p:xfrm>
          <a:off x="9898063" y="1973263"/>
          <a:ext cx="2212975" cy="223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93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Item Index</a:t>
                      </a:r>
                    </a:p>
                  </a:txBody>
                  <a:tcPr marL="91412" marR="91412" marT="45694" marB="4569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Table index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49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12" marR="91412" marT="45694" marB="4569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49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12" marR="91412" marT="45694" marB="4569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49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12" marR="91412" marT="45694" marB="4569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49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12" marR="91412" marT="45694" marB="4569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49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12" marR="91412" marT="45694" marB="4569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12" marR="91412" marT="45694" marB="45694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A4026AC-322D-EA29-AFDB-5B5EC791D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566971"/>
              </p:ext>
            </p:extLst>
          </p:nvPr>
        </p:nvGraphicFramePr>
        <p:xfrm>
          <a:off x="7491413" y="1965325"/>
          <a:ext cx="2214562" cy="4246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542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Item Index</a:t>
                      </a: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Table index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endParaRPr 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endParaRPr 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endParaRPr 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endParaRPr 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endParaRPr 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184">
                <a:tc>
                  <a:txBody>
                    <a:bodyPr/>
                    <a:lstStyle/>
                    <a:p>
                      <a:endParaRPr 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8" marR="91478" marT="45671" marB="45671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8" marR="91478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A110990-774F-9D89-3962-79A976825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4356100"/>
            <a:ext cx="7199313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Simply copying the values in the original array to the new array </a:t>
            </a:r>
            <a:r>
              <a:rPr lang="en-US" altLang="en-US" sz="2500" b="1">
                <a:solidFill>
                  <a:srgbClr val="FF0000"/>
                </a:solidFill>
              </a:rPr>
              <a:t>doesn’t work</a:t>
            </a:r>
            <a:endParaRPr lang="en-US" altLang="en-US" sz="2500" b="1">
              <a:solidFill>
                <a:srgbClr val="FF0000"/>
              </a:solidFill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29786" name="Picture 19">
            <a:extLst>
              <a:ext uri="{FF2B5EF4-FFF2-40B4-BE49-F238E27FC236}">
                <a16:creationId xmlns:a16="http://schemas.microsoft.com/office/drawing/2014/main" id="{8B56C0EC-E8A3-5208-A851-B72D61584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E43573-10E0-C0C6-B002-E24D241C9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583238"/>
            <a:ext cx="7199313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Rehashing means inserting the items all over again one by one. </a:t>
            </a:r>
            <a:endParaRPr lang="en-US" altLang="en-US" sz="2500" b="1">
              <a:solidFill>
                <a:srgbClr val="FF0000"/>
              </a:solidFill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2" grpId="0"/>
      <p:bldP spid="15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259013-DB68-14BE-E8AF-93502D95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 A:  Deleting an Item Using Open Addressing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A2D87C6-AEA9-B420-AE9D-37C4BCF2C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299731"/>
              </p:ext>
            </p:extLst>
          </p:nvPr>
        </p:nvGraphicFramePr>
        <p:xfrm>
          <a:off x="7983538" y="1709738"/>
          <a:ext cx="3713162" cy="201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28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 Index</a:t>
                      </a:r>
                    </a:p>
                  </a:txBody>
                  <a:tcPr marL="91471" marR="91471" marT="45685" marB="4568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Table index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1" marR="91471" marT="45685" marB="4568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1" marR="91471" marT="45685" marB="4568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1" marR="91471" marT="45685" marB="4568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71" marR="91471" marT="45685" marB="4568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28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1" marR="91471" marT="45685" marB="4568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71" marR="91471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950375B3-5152-1993-27FE-F6BEAD2A0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674813"/>
            <a:ext cx="7281863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We can’t delete an item by setting it to NULL.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46838E-BCAF-0A1C-D973-D847539BF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818069"/>
              </p:ext>
            </p:extLst>
          </p:nvPr>
        </p:nvGraphicFramePr>
        <p:xfrm>
          <a:off x="10583863" y="3389313"/>
          <a:ext cx="1108075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02" marR="91402" marT="45721" marB="4572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CA54BA71-C2A2-D323-FA77-411818957DD9}"/>
              </a:ext>
            </a:extLst>
          </p:cNvPr>
          <p:cNvSpPr txBox="1"/>
          <p:nvPr/>
        </p:nvSpPr>
        <p:spPr>
          <a:xfrm>
            <a:off x="7975600" y="3897313"/>
            <a:ext cx="3743325" cy="400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John is not accessible anymore.</a:t>
            </a:r>
            <a:endParaRPr lang="en-US" sz="2000" dirty="0">
              <a:ea typeface="Cambria Math" panose="020405030504060302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AA5923-CBB2-5822-2D83-77DB69424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359025"/>
            <a:ext cx="7281863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Instead, we mark it as deleted (by storing a dummy value)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81D1B111-461E-1668-0DC5-A51C5ABA7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769771"/>
              </p:ext>
            </p:extLst>
          </p:nvPr>
        </p:nvGraphicFramePr>
        <p:xfrm>
          <a:off x="10585450" y="3384550"/>
          <a:ext cx="1109663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DELETED</a:t>
                      </a:r>
                    </a:p>
                  </a:txBody>
                  <a:tcPr marL="91533" marR="91533" marT="45721" marB="4572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BDABE741-B736-7F21-1B21-59EE1EB00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429000"/>
            <a:ext cx="7281863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This might lead to search inefficiency particularly if there are many deletions.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1E750E-AFE6-AD9B-60FE-D1E7FA348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4603750"/>
            <a:ext cx="1142682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If the table is almost full and most of the items are deleted, you will have </a:t>
            </a:r>
            <a:r>
              <a:rPr lang="en-US" altLang="en-US" sz="2500" b="1"/>
              <a:t>O(n)</a:t>
            </a:r>
            <a:r>
              <a:rPr lang="en-US" altLang="en-US" sz="2500"/>
              <a:t> performance when searching for the few items remaining in the table.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27698" name="Picture 19">
            <a:extLst>
              <a:ext uri="{FF2B5EF4-FFF2-40B4-BE49-F238E27FC236}">
                <a16:creationId xmlns:a16="http://schemas.microsoft.com/office/drawing/2014/main" id="{FA3767A4-BDFF-EC10-8E8E-89CC88F41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  <p:bldP spid="45" grpId="1" animBg="1"/>
      <p:bldP spid="46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650119-5405-CC13-7845-C513BA0F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 A:  Traversing a Hash Table</a:t>
            </a:r>
            <a:endParaRPr lang="en-US" sz="3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25724" name="Picture 19">
            <a:extLst>
              <a:ext uri="{FF2B5EF4-FFF2-40B4-BE49-F238E27FC236}">
                <a16:creationId xmlns:a16="http://schemas.microsoft.com/office/drawing/2014/main" id="{D76E20B0-04D5-19D8-198F-2D36BA3E1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591CAA-EB10-3995-21DC-8BAC40D9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1689100"/>
            <a:ext cx="109664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You can’t traverse a hash table in a meaningful way.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0CEC17-CF23-F6BE-185F-77F69BF8B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754095"/>
              </p:ext>
            </p:extLst>
          </p:nvPr>
        </p:nvGraphicFramePr>
        <p:xfrm>
          <a:off x="962025" y="2378075"/>
          <a:ext cx="1906588" cy="1681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23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678" marB="45678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T="45678" marB="45678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606AD01-3186-F3F8-D4C8-BA56833A5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110011"/>
              </p:ext>
            </p:extLst>
          </p:nvPr>
        </p:nvGraphicFramePr>
        <p:xfrm>
          <a:off x="1430338" y="2381250"/>
          <a:ext cx="1441450" cy="334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77" marR="91477" marT="45505" marB="45505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D461A15-43C9-72D7-79CB-5B0F2CF56026}"/>
              </a:ext>
            </a:extLst>
          </p:cNvPr>
          <p:cNvGraphicFramePr>
            <a:graphicFrameLocks noGrp="1"/>
          </p:cNvGraphicFramePr>
          <p:nvPr/>
        </p:nvGraphicFramePr>
        <p:xfrm>
          <a:off x="1425575" y="2714625"/>
          <a:ext cx="1439863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376" marR="91376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8FE012A-7212-AD2E-CF38-88F485989F26}"/>
              </a:ext>
            </a:extLst>
          </p:cNvPr>
          <p:cNvGraphicFramePr>
            <a:graphicFrameLocks noGrp="1"/>
          </p:cNvGraphicFramePr>
          <p:nvPr/>
        </p:nvGraphicFramePr>
        <p:xfrm>
          <a:off x="1430338" y="3049588"/>
          <a:ext cx="1441450" cy="334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477" marR="91477" marT="45562" marB="4556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68F4835-ADC3-252D-D8C3-78CA071122F6}"/>
              </a:ext>
            </a:extLst>
          </p:cNvPr>
          <p:cNvGraphicFramePr>
            <a:graphicFrameLocks noGrp="1"/>
          </p:cNvGraphicFramePr>
          <p:nvPr/>
        </p:nvGraphicFramePr>
        <p:xfrm>
          <a:off x="1435100" y="3387725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4AFC0C0-CB61-8E53-C2B2-6E5219397CF5}"/>
              </a:ext>
            </a:extLst>
          </p:cNvPr>
          <p:cNvGraphicFramePr>
            <a:graphicFrameLocks noGrp="1"/>
          </p:cNvGraphicFramePr>
          <p:nvPr/>
        </p:nvGraphicFramePr>
        <p:xfrm>
          <a:off x="1431925" y="3725863"/>
          <a:ext cx="1441450" cy="334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77" marR="91477" marT="45505" marB="45505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57178C49-0945-B308-5BB4-551FE15D92CA}"/>
              </a:ext>
            </a:extLst>
          </p:cNvPr>
          <p:cNvSpPr txBox="1"/>
          <p:nvPr/>
        </p:nvSpPr>
        <p:spPr>
          <a:xfrm>
            <a:off x="855663" y="4297363"/>
            <a:ext cx="3730625" cy="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“John”, “Sam”, “Pete”, “Harry”, “Tom”</a:t>
            </a:r>
            <a:endParaRPr lang="en-US" dirty="0">
              <a:ea typeface="Cambria Math" panose="02040503050406030204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9663E44-F634-22F6-C9F2-6B38DB983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989269"/>
              </p:ext>
            </p:extLst>
          </p:nvPr>
        </p:nvGraphicFramePr>
        <p:xfrm>
          <a:off x="5053013" y="2327275"/>
          <a:ext cx="1908175" cy="3698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261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517" marR="91517" marT="45682" marB="4568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517" marR="91517" marT="45682" marB="4568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DE574D5-0D84-414D-4579-ECBAF60544FA}"/>
              </a:ext>
            </a:extLst>
          </p:cNvPr>
          <p:cNvGraphicFramePr>
            <a:graphicFrameLocks noGrp="1"/>
          </p:cNvGraphicFramePr>
          <p:nvPr/>
        </p:nvGraphicFramePr>
        <p:xfrm>
          <a:off x="5510213" y="3338513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“Tom”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16B43BF-9E9D-0513-1E23-A035905C98C0}"/>
              </a:ext>
            </a:extLst>
          </p:cNvPr>
          <p:cNvGraphicFramePr>
            <a:graphicFrameLocks noGrp="1"/>
          </p:cNvGraphicFramePr>
          <p:nvPr/>
        </p:nvGraphicFramePr>
        <p:xfrm>
          <a:off x="5511800" y="4013200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“John”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D7F72D9-1EC9-9255-A1BE-E3B326EAB401}"/>
              </a:ext>
            </a:extLst>
          </p:cNvPr>
          <p:cNvGraphicFramePr>
            <a:graphicFrameLocks noGrp="1"/>
          </p:cNvGraphicFramePr>
          <p:nvPr/>
        </p:nvGraphicFramePr>
        <p:xfrm>
          <a:off x="5511800" y="4340225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“Sam”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23B12BE-CFB6-360A-8C59-505CA3D4CB7E}"/>
              </a:ext>
            </a:extLst>
          </p:cNvPr>
          <p:cNvGraphicFramePr>
            <a:graphicFrameLocks noGrp="1"/>
          </p:cNvGraphicFramePr>
          <p:nvPr/>
        </p:nvGraphicFramePr>
        <p:xfrm>
          <a:off x="5516563" y="4672013"/>
          <a:ext cx="14414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“Pete”</a:t>
                      </a:r>
                    </a:p>
                  </a:txBody>
                  <a:tcPr marL="91477" marR="91477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11B7CFE-E25E-113E-BD06-91F72C3536DB}"/>
              </a:ext>
            </a:extLst>
          </p:cNvPr>
          <p:cNvGraphicFramePr>
            <a:graphicFrameLocks noGrp="1"/>
          </p:cNvGraphicFramePr>
          <p:nvPr/>
        </p:nvGraphicFramePr>
        <p:xfrm>
          <a:off x="5513388" y="5695950"/>
          <a:ext cx="1439862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“Harry”</a:t>
                      </a:r>
                    </a:p>
                  </a:txBody>
                  <a:tcPr marL="91376" marR="91376" marT="45721" marB="45721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4B35AF7-E623-ECD7-EF91-0DC36803AF29}"/>
              </a:ext>
            </a:extLst>
          </p:cNvPr>
          <p:cNvSpPr txBox="1"/>
          <p:nvPr/>
        </p:nvSpPr>
        <p:spPr>
          <a:xfrm>
            <a:off x="4992688" y="6245225"/>
            <a:ext cx="4246562" cy="369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“Tom”, “John”, “Sam”, “Pete”, “Harry”</a:t>
            </a:r>
            <a:endParaRPr lang="en-US" dirty="0"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0959D-F20C-93AB-7822-32EDE1B2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 A:  The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Problem with Linear Probing</a:t>
            </a:r>
            <a:endParaRPr lang="en-US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7AF47-8D41-AAE4-FAA0-08BB39905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603375"/>
            <a:ext cx="486251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500" dirty="0"/>
              <a:t>Linear probing forms clusters of keys in the table causing longer search chains.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sz="2500" dirty="0"/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500" dirty="0">
                <a:ea typeface="Cambria Math" panose="02040503050406030204" pitchFamily="18" charset="0"/>
                <a:cs typeface="Cambria Math" panose="02040503050406030204" pitchFamily="18" charset="0"/>
              </a:rPr>
              <a:t>Inserting </a:t>
            </a:r>
            <a:r>
              <a:rPr lang="en-US" sz="2500" b="1" dirty="0">
                <a:ea typeface="Cambria Math" panose="02040503050406030204" pitchFamily="18" charset="0"/>
                <a:cs typeface="Cambria Math" panose="02040503050406030204" pitchFamily="18" charset="0"/>
              </a:rPr>
              <a:t>(5,6,5,6,7)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E5FD95-5BB7-3047-DE7A-AF3F61C00990}"/>
              </a:ext>
            </a:extLst>
          </p:cNvPr>
          <p:cNvGraphicFramePr>
            <a:graphicFrameLocks noGrp="1"/>
          </p:cNvGraphicFramePr>
          <p:nvPr/>
        </p:nvGraphicFramePr>
        <p:xfrm>
          <a:off x="6094413" y="2260600"/>
          <a:ext cx="2609850" cy="4038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591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671" marB="4567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903FCF-59C8-CCA9-6D86-2438E492CA73}"/>
              </a:ext>
            </a:extLst>
          </p:cNvPr>
          <p:cNvSpPr/>
          <p:nvPr/>
        </p:nvSpPr>
        <p:spPr>
          <a:xfrm>
            <a:off x="6094413" y="1603375"/>
            <a:ext cx="2533650" cy="449263"/>
          </a:xfrm>
          <a:prstGeom prst="round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Linear Probing</a:t>
            </a:r>
          </a:p>
        </p:txBody>
      </p:sp>
      <p:pic>
        <p:nvPicPr>
          <p:cNvPr id="31790" name="Picture 19">
            <a:extLst>
              <a:ext uri="{FF2B5EF4-FFF2-40B4-BE49-F238E27FC236}">
                <a16:creationId xmlns:a16="http://schemas.microsoft.com/office/drawing/2014/main" id="{77193254-D59F-EBF4-A71F-7A9B911EE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27013"/>
            <a:ext cx="6921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226E1B-EF6F-4B84-C428-288A70AEBCF6}"/>
              </a:ext>
            </a:extLst>
          </p:cNvPr>
          <p:cNvGraphicFramePr>
            <a:graphicFrameLocks noGrp="1"/>
          </p:cNvGraphicFramePr>
          <p:nvPr/>
        </p:nvGraphicFramePr>
        <p:xfrm>
          <a:off x="6094413" y="4276725"/>
          <a:ext cx="2609850" cy="334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12" marR="91412" marT="45563" marB="4556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item with code 5</a:t>
                      </a:r>
                    </a:p>
                  </a:txBody>
                  <a:tcPr marL="91412" marR="91412" marT="45563" marB="4556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D7D696-743A-FE8B-BFD6-027E0458277A}"/>
              </a:ext>
            </a:extLst>
          </p:cNvPr>
          <p:cNvGraphicFramePr>
            <a:graphicFrameLocks noGrp="1"/>
          </p:cNvGraphicFramePr>
          <p:nvPr/>
        </p:nvGraphicFramePr>
        <p:xfrm>
          <a:off x="6094413" y="4611688"/>
          <a:ext cx="26098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12" marR="91412" marT="45721" marB="4572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item with code 6</a:t>
                      </a:r>
                    </a:p>
                  </a:txBody>
                  <a:tcPr marL="91412" marR="91412" marT="45721" marB="4572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14D1C6-F175-D39F-B389-2506CF0725E8}"/>
              </a:ext>
            </a:extLst>
          </p:cNvPr>
          <p:cNvGraphicFramePr>
            <a:graphicFrameLocks noGrp="1"/>
          </p:cNvGraphicFramePr>
          <p:nvPr/>
        </p:nvGraphicFramePr>
        <p:xfrm>
          <a:off x="6102350" y="4945063"/>
          <a:ext cx="2609850" cy="334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12" marR="91412" marT="45505" marB="4550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item with code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</a:rPr>
                        <a:t> 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12" marR="91412" marT="45505" marB="4550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E4288E-9F8C-1C16-B7CE-A4A601CDEB4D}"/>
              </a:ext>
            </a:extLst>
          </p:cNvPr>
          <p:cNvGraphicFramePr>
            <a:graphicFrameLocks noGrp="1"/>
          </p:cNvGraphicFramePr>
          <p:nvPr/>
        </p:nvGraphicFramePr>
        <p:xfrm>
          <a:off x="6094413" y="5281613"/>
          <a:ext cx="2609850" cy="33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12" marR="91412" marT="45721" marB="4572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item with code 6</a:t>
                      </a:r>
                    </a:p>
                  </a:txBody>
                  <a:tcPr marL="91412" marR="91412" marT="45721" marB="4572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743407-790F-3194-4E92-DC09F2B7C418}"/>
              </a:ext>
            </a:extLst>
          </p:cNvPr>
          <p:cNvGraphicFramePr>
            <a:graphicFrameLocks noGrp="1"/>
          </p:cNvGraphicFramePr>
          <p:nvPr/>
        </p:nvGraphicFramePr>
        <p:xfrm>
          <a:off x="6094413" y="5626100"/>
          <a:ext cx="2609850" cy="334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r>
                        <a:rPr lang="en-US" sz="15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91412" marR="91412" marT="45563" marB="4556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600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item with code 7</a:t>
                      </a:r>
                    </a:p>
                  </a:txBody>
                  <a:tcPr marL="91412" marR="91412" marT="45563" marB="45563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E442FDF-1408-E631-D0FB-7EF56AC7EA50}"/>
              </a:ext>
            </a:extLst>
          </p:cNvPr>
          <p:cNvSpPr txBox="1"/>
          <p:nvPr/>
        </p:nvSpPr>
        <p:spPr>
          <a:xfrm>
            <a:off x="8751888" y="4194175"/>
            <a:ext cx="3016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74D918-9D9D-02A9-C97E-893B3E56B08D}"/>
              </a:ext>
            </a:extLst>
          </p:cNvPr>
          <p:cNvSpPr txBox="1"/>
          <p:nvPr/>
        </p:nvSpPr>
        <p:spPr>
          <a:xfrm>
            <a:off x="8751888" y="4562475"/>
            <a:ext cx="3016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8DD71D-1B6F-AC3D-DCFA-0751BEFBD278}"/>
              </a:ext>
            </a:extLst>
          </p:cNvPr>
          <p:cNvSpPr txBox="1"/>
          <p:nvPr/>
        </p:nvSpPr>
        <p:spPr>
          <a:xfrm>
            <a:off x="8739188" y="4932363"/>
            <a:ext cx="30162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DDD2D-CA09-DF63-B103-3AE95E22489F}"/>
              </a:ext>
            </a:extLst>
          </p:cNvPr>
          <p:cNvSpPr txBox="1"/>
          <p:nvPr/>
        </p:nvSpPr>
        <p:spPr>
          <a:xfrm>
            <a:off x="8751888" y="5302250"/>
            <a:ext cx="3016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E2082D-3558-4C6C-6211-0E5515C106DF}"/>
              </a:ext>
            </a:extLst>
          </p:cNvPr>
          <p:cNvSpPr txBox="1"/>
          <p:nvPr/>
        </p:nvSpPr>
        <p:spPr>
          <a:xfrm>
            <a:off x="8751888" y="5626100"/>
            <a:ext cx="3016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 animBg="1"/>
      <p:bldP spid="12" grpId="0"/>
      <p:bldP spid="20" grpId="0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058393-AA4E-F2FE-245F-973E52FBE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</a:t>
            </a:r>
            <a:r>
              <a:rPr lang="en-US" altLang="en-US" b="1" dirty="0">
                <a:solidFill>
                  <a:srgbClr val="0070C0"/>
                </a:solidFill>
                <a:latin typeface="+mn-lt"/>
              </a:rPr>
              <a:t>Quadratic Probing &amp; Double Hashing</a:t>
            </a:r>
            <a:endParaRPr lang="en-US" sz="40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33802" name="Picture 19">
            <a:extLst>
              <a:ext uri="{FF2B5EF4-FFF2-40B4-BE49-F238E27FC236}">
                <a16:creationId xmlns:a16="http://schemas.microsoft.com/office/drawing/2014/main" id="{FFBDCF1E-C202-FA92-36FF-0091BDA5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63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2C537-4FB5-CDB1-3899-353D1CB29DFD}"/>
              </a:ext>
            </a:extLst>
          </p:cNvPr>
          <p:cNvSpPr txBox="1"/>
          <p:nvPr/>
        </p:nvSpPr>
        <p:spPr>
          <a:xfrm>
            <a:off x="161463" y="1517650"/>
            <a:ext cx="609407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rgbClr val="0070C0"/>
                </a:solidFill>
                <a:latin typeface="+mn-lt"/>
              </a:rPr>
              <a:t>Quadratic Probing </a:t>
            </a:r>
            <a:endParaRPr lang="en-US" alt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instead of looking at consecutive cells beginning at k, Quadratic probing looks at cells at indices (k + j</a:t>
            </a:r>
            <a:r>
              <a:rPr lang="en-US" sz="2000" baseline="30000" dirty="0">
                <a:latin typeface="+mn-lt"/>
              </a:rPr>
              <a:t>2</a:t>
            </a:r>
            <a:r>
              <a:rPr lang="en-US" sz="2000" dirty="0">
                <a:latin typeface="+mn-lt"/>
              </a:rPr>
              <a:t>) %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Ex:  (k + 1) % N, then (k + 4) % N, then (k + 9) %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Works like linear probing, just doesn’t look at consecutive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Still has issues with clustering values (secondary clustering) because an entry will use the same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558AC-4195-5FA7-CFF8-11F2B1BD83F7}"/>
              </a:ext>
            </a:extLst>
          </p:cNvPr>
          <p:cNvSpPr txBox="1"/>
          <p:nvPr/>
        </p:nvSpPr>
        <p:spPr>
          <a:xfrm>
            <a:off x="6453329" y="3256587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rgbClr val="0070C0"/>
                </a:solidFill>
                <a:latin typeface="+mn-lt"/>
              </a:rPr>
              <a:t>Double Hashing</a:t>
            </a:r>
            <a:endParaRPr lang="en-US" alt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Applies a secondary hash function to the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Instead of looking at (k </a:t>
            </a:r>
            <a:r>
              <a:rPr lang="en-US" sz="2000" dirty="0"/>
              <a:t>+ j</a:t>
            </a:r>
            <a:r>
              <a:rPr lang="en-US" sz="2000" baseline="30000" dirty="0"/>
              <a:t>2</a:t>
            </a:r>
            <a:r>
              <a:rPr lang="en-US" sz="2000" dirty="0">
                <a:latin typeface="+mn-lt"/>
              </a:rPr>
              <a:t>) % N, </a:t>
            </a:r>
          </a:p>
          <a:p>
            <a:pPr lvl="1"/>
            <a:r>
              <a:rPr lang="en-US" sz="2000" dirty="0">
                <a:latin typeface="+mn-lt"/>
              </a:rPr>
              <a:t>      it would look at (k + j * hash2(key)) %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Ex:     </a:t>
            </a:r>
            <a:r>
              <a:rPr lang="en-US" sz="2000" dirty="0"/>
              <a:t>(k + 1 * hash2(key)) % N</a:t>
            </a:r>
          </a:p>
          <a:p>
            <a:pPr lvl="1"/>
            <a:r>
              <a:rPr lang="en-US" sz="2000" dirty="0"/>
              <a:t>     then  (k + 2 * hash2(key)) % N</a:t>
            </a:r>
          </a:p>
          <a:p>
            <a:pPr lvl="1"/>
            <a:r>
              <a:rPr lang="en-US" sz="2000" dirty="0">
                <a:latin typeface="+mn-lt"/>
              </a:rPr>
              <a:t>     then  (k + 3 * hash2(key)) % 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BE157-94AB-5B1D-0737-DA612CBF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05836D-3654-C2F0-F6F1-19277A03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B: 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Chaining</a:t>
            </a:r>
            <a:endParaRPr lang="en-US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0FB031-BB7A-0389-B241-1D289C711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674813"/>
            <a:ext cx="53149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Each table element references a linked list that contains all the items that hash to the same index.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9" name="Picture 6" descr="KWC09_06">
            <a:extLst>
              <a:ext uri="{FF2B5EF4-FFF2-40B4-BE49-F238E27FC236}">
                <a16:creationId xmlns:a16="http://schemas.microsoft.com/office/drawing/2014/main" id="{5A5D8116-4638-92A2-D19C-843316453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050" y="2106613"/>
            <a:ext cx="6373813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A96AE0-5AEA-0860-8390-F927064AC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128963"/>
            <a:ext cx="531495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To resolve collisions, you traverse the referenced linked list.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3BA7DE-869D-E084-0932-EBAC54AEF3F1}"/>
              </a:ext>
            </a:extLst>
          </p:cNvPr>
          <p:cNvSpPr/>
          <p:nvPr/>
        </p:nvSpPr>
        <p:spPr>
          <a:xfrm>
            <a:off x="673100" y="4367213"/>
            <a:ext cx="1604963" cy="449262"/>
          </a:xfrm>
          <a:prstGeom prst="round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Advantages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2F261E-31C9-C94F-2498-05AD66A7A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5022850"/>
            <a:ext cx="1004728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Only items with the same hashed index will be examined.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21C65A-AB6F-BEA7-8FEF-F54065697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5500688"/>
            <a:ext cx="100472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You can store more elements in the table than the table size.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0FD1BE-25C4-5FF6-44C7-9B2F3E226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6056313"/>
            <a:ext cx="100472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500"/>
              <a:t>To delete an item, simply remove it from the list.</a:t>
            </a:r>
            <a:endParaRPr lang="en-US" altLang="en-US" sz="25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33802" name="Picture 19">
            <a:extLst>
              <a:ext uri="{FF2B5EF4-FFF2-40B4-BE49-F238E27FC236}">
                <a16:creationId xmlns:a16="http://schemas.microsoft.com/office/drawing/2014/main" id="{D2ECA3FD-6817-AD90-84C4-D13971E88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34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0" grpId="0"/>
      <p:bldP spid="16" grpId="0" animBg="1"/>
      <p:bldP spid="17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2311FA-611D-D471-D13C-EE0CEB039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Performance of Hash Tables</a:t>
            </a:r>
            <a:endParaRPr lang="en-US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4" name="TextBox 43" descr="calculation for load factor">
            <a:extLst>
              <a:ext uri="{FF2B5EF4-FFF2-40B4-BE49-F238E27FC236}">
                <a16:creationId xmlns:a16="http://schemas.microsoft.com/office/drawing/2014/main" id="{8573C65E-3A23-3AF8-1F64-5A74861F5B5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727" y="1611284"/>
            <a:ext cx="5964558" cy="882678"/>
          </a:xfrm>
          <a:prstGeom prst="rect">
            <a:avLst/>
          </a:prstGeom>
          <a:blipFill rotWithShape="0">
            <a:blip r:embed="rId3"/>
            <a:stretch>
              <a:fillRect l="-919" b="-1103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E5916-BFBD-75C8-ED59-DB2699612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3100388"/>
            <a:ext cx="65103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 dirty="0"/>
              <a:t>Expected number of comparisons, c, for finding an item in a hash table using open addressing with linear probing.</a:t>
            </a:r>
            <a:endParaRPr lang="en-US" altLang="en-US" sz="2000" dirty="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2" name="TextBox 11" descr="equation for comparisons needed using linear probing">
            <a:extLst>
              <a:ext uri="{FF2B5EF4-FFF2-40B4-BE49-F238E27FC236}">
                <a16:creationId xmlns:a16="http://schemas.microsoft.com/office/drawing/2014/main" id="{302DFA91-75B0-A90E-4601-1C73F1FF724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7522" y="3795887"/>
            <a:ext cx="3064543" cy="78386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784D57-68AC-192B-C29F-4EC8EF983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5205413"/>
            <a:ext cx="2900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With chaining:</a:t>
            </a:r>
            <a:endParaRPr lang="en-US" altLang="en-US" sz="20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4" name="TextBox 13" descr="equation for comparisons needed using chaining">
            <a:extLst>
              <a:ext uri="{FF2B5EF4-FFF2-40B4-BE49-F238E27FC236}">
                <a16:creationId xmlns:a16="http://schemas.microsoft.com/office/drawing/2014/main" id="{77AAEBA2-54F8-20F2-E8C9-0CC7948C227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116" y="5707620"/>
            <a:ext cx="3064543" cy="666529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960A4D-FE80-F518-123B-28321B056898}"/>
              </a:ext>
            </a:extLst>
          </p:cNvPr>
          <p:cNvGraphicFramePr>
            <a:graphicFrameLocks noGrp="1"/>
          </p:cNvGraphicFramePr>
          <p:nvPr/>
        </p:nvGraphicFramePr>
        <p:xfrm>
          <a:off x="6705600" y="2033588"/>
          <a:ext cx="5310188" cy="2751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3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Probes with Linear Probing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Probes with Chaining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1.17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1.13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0.75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2.50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1.38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3.83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1.43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5.50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10.50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1.48</a:t>
                      </a:r>
                    </a:p>
                  </a:txBody>
                  <a:tcPr marL="91451" marR="91451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E442EEA-0F17-B1F8-3169-3F01C2F8E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2665413"/>
            <a:ext cx="5368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0&lt;= L &lt;1  (for linear probing tables)</a:t>
            </a:r>
            <a:endParaRPr lang="en-US" altLang="en-US" sz="2000"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35887" name="Picture 19">
            <a:extLst>
              <a:ext uri="{FF2B5EF4-FFF2-40B4-BE49-F238E27FC236}">
                <a16:creationId xmlns:a16="http://schemas.microsoft.com/office/drawing/2014/main" id="{ECBA0FCD-0D4A-AFB5-47BC-2EB64BE0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EAD7F6-5F07-D872-2012-E2A841B5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Task</a:t>
            </a:r>
            <a:endParaRPr lang="en-US" sz="30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08175735-62A5-B3F6-160C-9F3EE9B6F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266700"/>
            <a:ext cx="938213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1">
            <a:extLst>
              <a:ext uri="{FF2B5EF4-FFF2-40B4-BE49-F238E27FC236}">
                <a16:creationId xmlns:a16="http://schemas.microsoft.com/office/drawing/2014/main" id="{31301FC0-00D0-6868-B154-74832147D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16" y="1570129"/>
            <a:ext cx="1149985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500" dirty="0"/>
              <a:t>Compare the storage requirements (size) for a hash table with open addressing, a table size of 512, and a load factor of 0.5, with a hash table that uses chaining and gives the same performance.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500" dirty="0"/>
          </a:p>
        </p:txBody>
      </p:sp>
      <p:sp>
        <p:nvSpPr>
          <p:cNvPr id="41991" name="TextBox 1">
            <a:extLst>
              <a:ext uri="{FF2B5EF4-FFF2-40B4-BE49-F238E27FC236}">
                <a16:creationId xmlns:a16="http://schemas.microsoft.com/office/drawing/2014/main" id="{D4C7F9F2-593F-7250-DCB4-A74BD91DA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3308350"/>
            <a:ext cx="3184525" cy="369888"/>
          </a:xfrm>
          <a:prstGeom prst="rect">
            <a:avLst/>
          </a:prstGeom>
          <a:solidFill>
            <a:srgbClr val="EFF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Open addressing, linear probing</a:t>
            </a:r>
          </a:p>
        </p:txBody>
      </p:sp>
      <p:sp>
        <p:nvSpPr>
          <p:cNvPr id="2" name="TextBox 1" descr="equation for load factor">
            <a:extLst>
              <a:ext uri="{FF2B5EF4-FFF2-40B4-BE49-F238E27FC236}">
                <a16:creationId xmlns:a16="http://schemas.microsoft.com/office/drawing/2014/main" id="{A63FC8BD-36D0-7A5B-151A-348742A183E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11294" y="3366789"/>
            <a:ext cx="2603533" cy="574901"/>
          </a:xfrm>
          <a:prstGeom prst="rect">
            <a:avLst/>
          </a:prstGeom>
          <a:blipFill rotWithShape="0">
            <a:blip r:embed="rId4"/>
            <a:stretch>
              <a:fillRect l="-2576" b="-105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TextBox 6" descr="equation for comparisons needed using linear probing">
            <a:extLst>
              <a:ext uri="{FF2B5EF4-FFF2-40B4-BE49-F238E27FC236}">
                <a16:creationId xmlns:a16="http://schemas.microsoft.com/office/drawing/2014/main" id="{D14D3D5D-1CA1-7DC4-F853-98695D52F19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7522" y="3795887"/>
            <a:ext cx="3064543" cy="783869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47274-458B-26F0-254A-4C8C50A3F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697" y="4187821"/>
            <a:ext cx="35718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/>
              <a:t>c = ½(1+1/0.5)= 1.5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/>
              <a:t>L = filled cells/size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/>
              <a:t>0.5=filled cells/512. filled cells = 256</a:t>
            </a:r>
          </a:p>
        </p:txBody>
      </p:sp>
      <p:sp>
        <p:nvSpPr>
          <p:cNvPr id="41992" name="TextBox 8">
            <a:extLst>
              <a:ext uri="{FF2B5EF4-FFF2-40B4-BE49-F238E27FC236}">
                <a16:creationId xmlns:a16="http://schemas.microsoft.com/office/drawing/2014/main" id="{18907A2A-E44D-5AF7-1ED9-7EF49A793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5259388"/>
            <a:ext cx="998538" cy="369887"/>
          </a:xfrm>
          <a:prstGeom prst="rect">
            <a:avLst/>
          </a:prstGeom>
          <a:solidFill>
            <a:srgbClr val="EFF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Chaining</a:t>
            </a:r>
          </a:p>
        </p:txBody>
      </p:sp>
      <p:sp>
        <p:nvSpPr>
          <p:cNvPr id="8" name="TextBox 7" descr="equation for comparisons needed using chaining">
            <a:extLst>
              <a:ext uri="{FF2B5EF4-FFF2-40B4-BE49-F238E27FC236}">
                <a16:creationId xmlns:a16="http://schemas.microsoft.com/office/drawing/2014/main" id="{5164B353-D336-3ED9-DA5B-F7307858EE6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116" y="5707620"/>
            <a:ext cx="3064543" cy="666529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21165-C08C-2DBF-FB45-E675A1688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7324" y="5629275"/>
            <a:ext cx="813062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/>
              <a:t>c = 1 + 0.50/2 = 1.25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/>
              <a:t>L = filled cells/size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/>
              <a:t>0.5=filled cells/512, size = </a:t>
            </a:r>
            <a:r>
              <a:rPr lang="en-US" altLang="en-US" sz="1800" b="1" dirty="0"/>
              <a:t>256, with one pointer per node, the overhead is the same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71E269-348B-E570-AA42-F872691B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 Task: Rehash Table</a:t>
            </a:r>
            <a:endParaRPr lang="en-US" sz="3000" b="1" dirty="0">
              <a:solidFill>
                <a:srgbClr val="0070C0"/>
              </a:solidFill>
              <a:latin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F72407-2DBE-4CEE-A1EA-28B8468C08D8}"/>
              </a:ext>
            </a:extLst>
          </p:cNvPr>
          <p:cNvGraphicFramePr>
            <a:graphicFrameLocks noGrp="1"/>
          </p:cNvGraphicFramePr>
          <p:nvPr/>
        </p:nvGraphicFramePr>
        <p:xfrm>
          <a:off x="582613" y="3467100"/>
          <a:ext cx="2603500" cy="237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Hash Key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914" name="Rectangle 1">
            <a:extLst>
              <a:ext uri="{FF2B5EF4-FFF2-40B4-BE49-F238E27FC236}">
                <a16:creationId xmlns:a16="http://schemas.microsoft.com/office/drawing/2014/main" id="{91C5B649-B8AE-F62A-410B-E1ACCF2EE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1468438"/>
            <a:ext cx="1149985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500" dirty="0"/>
              <a:t>The following table stores int keys and needs to be rehashed using open addressing (linear probing) and chaining.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500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500" b="1" dirty="0"/>
              <a:t>Show what the new tables would look like as a result of rehashing this table.</a:t>
            </a:r>
          </a:p>
        </p:txBody>
      </p:sp>
      <p:pic>
        <p:nvPicPr>
          <p:cNvPr id="37915" name="Picture 2">
            <a:extLst>
              <a:ext uri="{FF2B5EF4-FFF2-40B4-BE49-F238E27FC236}">
                <a16:creationId xmlns:a16="http://schemas.microsoft.com/office/drawing/2014/main" id="{49C849A8-0DDA-B935-72EE-8C14D243E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266700"/>
            <a:ext cx="938213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B5F9FE-95EC-05BD-5626-C50FD50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  <a:latin typeface="+mn-lt"/>
              </a:rPr>
              <a:t>        Solution</a:t>
            </a:r>
            <a:endParaRPr lang="en-US" sz="30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39978" name="Picture 2">
            <a:extLst>
              <a:ext uri="{FF2B5EF4-FFF2-40B4-BE49-F238E27FC236}">
                <a16:creationId xmlns:a16="http://schemas.microsoft.com/office/drawing/2014/main" id="{F7929E07-0D5E-88DB-BE37-88C569D22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266700"/>
            <a:ext cx="938213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 descr="original hash table for example">
            <a:extLst>
              <a:ext uri="{FF2B5EF4-FFF2-40B4-BE49-F238E27FC236}">
                <a16:creationId xmlns:a16="http://schemas.microsoft.com/office/drawing/2014/main" id="{86C1AA73-0054-997E-79E1-DEDAEF00F545}"/>
              </a:ext>
            </a:extLst>
          </p:cNvPr>
          <p:cNvSpPr/>
          <p:nvPr/>
        </p:nvSpPr>
        <p:spPr>
          <a:xfrm>
            <a:off x="0" y="1468438"/>
            <a:ext cx="3524250" cy="5389562"/>
          </a:xfrm>
          <a:prstGeom prst="rect">
            <a:avLst/>
          </a:prstGeom>
          <a:solidFill>
            <a:srgbClr val="EF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32DBEC-E78E-C049-246B-20C7560C690D}"/>
              </a:ext>
            </a:extLst>
          </p:cNvPr>
          <p:cNvSpPr/>
          <p:nvPr/>
        </p:nvSpPr>
        <p:spPr>
          <a:xfrm>
            <a:off x="317500" y="1735138"/>
            <a:ext cx="1604963" cy="44926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Old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BBD486-D632-5F35-8806-DE5E777BB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25260"/>
              </p:ext>
            </p:extLst>
          </p:nvPr>
        </p:nvGraphicFramePr>
        <p:xfrm>
          <a:off x="317500" y="2451100"/>
          <a:ext cx="2603500" cy="237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Hash Key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91445" marR="91445" marT="45642" marB="45642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CCECA3-14F7-81A7-49BC-9467CC1CEBA0}"/>
              </a:ext>
            </a:extLst>
          </p:cNvPr>
          <p:cNvSpPr/>
          <p:nvPr/>
        </p:nvSpPr>
        <p:spPr>
          <a:xfrm>
            <a:off x="3600450" y="1509713"/>
            <a:ext cx="2135188" cy="4714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Open addressing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34AEDA-9A35-5163-7CFC-41233EB8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389699"/>
              </p:ext>
            </p:extLst>
          </p:nvPr>
        </p:nvGraphicFramePr>
        <p:xfrm>
          <a:off x="3786188" y="2200275"/>
          <a:ext cx="2603500" cy="426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1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Hash Key</a:t>
                      </a:r>
                    </a:p>
                    <a:p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2AB229-BFA3-2711-5DC3-BAE77587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09306"/>
              </p:ext>
            </p:extLst>
          </p:nvPr>
        </p:nvGraphicFramePr>
        <p:xfrm>
          <a:off x="3783013" y="5285154"/>
          <a:ext cx="2603500" cy="395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246" marB="45246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45" marR="91445" marT="45246" marB="4524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8A033B-7923-61A6-6E08-06028E1DA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02426"/>
              </p:ext>
            </p:extLst>
          </p:nvPr>
        </p:nvGraphicFramePr>
        <p:xfrm>
          <a:off x="3789363" y="5690210"/>
          <a:ext cx="2603500" cy="3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7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66E92A-9EF4-140E-6EC8-74AEC3078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81065"/>
              </p:ext>
            </p:extLst>
          </p:nvPr>
        </p:nvGraphicFramePr>
        <p:xfrm>
          <a:off x="3789363" y="3644522"/>
          <a:ext cx="2603500" cy="442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66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5" marR="91445" marT="45767" marB="4576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1445" marR="91445" marT="45767" marB="45767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09043A-94AF-67FD-8462-7C85C1EE4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14124"/>
              </p:ext>
            </p:extLst>
          </p:nvPr>
        </p:nvGraphicFramePr>
        <p:xfrm>
          <a:off x="3783013" y="4874785"/>
          <a:ext cx="2603500" cy="39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5" marR="91445" marT="45736" marB="45736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91445" marR="91445" marT="45736" marB="45736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CD32B6A-B492-A10A-2C09-52673015CAA4}"/>
              </a:ext>
            </a:extLst>
          </p:cNvPr>
          <p:cNvSpPr/>
          <p:nvPr/>
        </p:nvSpPr>
        <p:spPr>
          <a:xfrm>
            <a:off x="7124700" y="1509713"/>
            <a:ext cx="2135188" cy="4714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</a:rPr>
              <a:t>Chaining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F260904-884E-6000-75FC-8679E2265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121574"/>
              </p:ext>
            </p:extLst>
          </p:nvPr>
        </p:nvGraphicFramePr>
        <p:xfrm>
          <a:off x="7691438" y="2184400"/>
          <a:ext cx="2603500" cy="426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1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Hash Key</a:t>
                      </a:r>
                    </a:p>
                    <a:p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30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91445" marR="91445" marT="45701" marB="45701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6B2772-8C08-8FC9-6107-98426C49F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41479"/>
              </p:ext>
            </p:extLst>
          </p:nvPr>
        </p:nvGraphicFramePr>
        <p:xfrm>
          <a:off x="7691438" y="5254816"/>
          <a:ext cx="2603500" cy="3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7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E192972-C041-FBEC-A95F-462AC10C2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524713"/>
              </p:ext>
            </p:extLst>
          </p:nvPr>
        </p:nvGraphicFramePr>
        <p:xfrm>
          <a:off x="7691438" y="5254816"/>
          <a:ext cx="2603500" cy="3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7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24, 6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73488AE-0C20-D14A-2BCC-0D486CE0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50930"/>
              </p:ext>
            </p:extLst>
          </p:nvPr>
        </p:nvGraphicFramePr>
        <p:xfrm>
          <a:off x="7694613" y="3666562"/>
          <a:ext cx="2603500" cy="39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5" marR="91445" marT="45767" marB="4576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1445" marR="91445" marT="45767" marB="45767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7E5C27A-2AAA-32E5-3DC4-0AE2E455B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68189"/>
              </p:ext>
            </p:extLst>
          </p:nvPr>
        </p:nvGraphicFramePr>
        <p:xfrm>
          <a:off x="7685088" y="4862512"/>
          <a:ext cx="2603500" cy="3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7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91445" marR="91445" marT="45245" marB="4524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CD2D-2629-5FDF-7F5F-C7EFBAFA0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D0FF65-3669-9462-830C-135A3CCC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rgbClr val="0070C0"/>
                </a:solidFill>
                <a:latin typeface="+mn-lt"/>
              </a:rPr>
              <a:t>         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Implementing Hash Tables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 (a)</a:t>
            </a:r>
            <a:br>
              <a:rPr lang="en-US" sz="2800" dirty="0">
                <a:solidFill>
                  <a:srgbClr val="0070C0"/>
                </a:solidFill>
                <a:latin typeface="+mn-lt"/>
              </a:rPr>
            </a:br>
            <a:r>
              <a:rPr lang="en-US" sz="2800" dirty="0">
                <a:solidFill>
                  <a:srgbClr val="0070C0"/>
                </a:solidFill>
                <a:latin typeface="+mn-lt"/>
              </a:rPr>
              <a:t>                  </a:t>
            </a:r>
            <a:endParaRPr lang="en-US" sz="28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4036" name="Picture 19">
            <a:extLst>
              <a:ext uri="{FF2B5EF4-FFF2-40B4-BE49-F238E27FC236}">
                <a16:creationId xmlns:a16="http://schemas.microsoft.com/office/drawing/2014/main" id="{2FD0F7AF-8FBD-BE33-80D2-47D489939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91543A-2E9D-9A75-05A8-A4260ABFE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225981"/>
              </p:ext>
            </p:extLst>
          </p:nvPr>
        </p:nvGraphicFramePr>
        <p:xfrm>
          <a:off x="173038" y="923467"/>
          <a:ext cx="11903901" cy="5934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3901">
                  <a:extLst>
                    <a:ext uri="{9D8B030D-6E8A-4147-A177-3AD203B41FA5}">
                      <a16:colId xmlns:a16="http://schemas.microsoft.com/office/drawing/2014/main" val="121795915"/>
                    </a:ext>
                  </a:extLst>
                </a:gridCol>
              </a:tblGrid>
              <a:tr h="5415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84491"/>
                  </a:ext>
                </a:extLst>
              </a:tr>
              <a:tr h="415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2329"/>
                  </a:ext>
                </a:extLst>
              </a:tr>
              <a:tr h="4977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9426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DA6ED45-D9B2-44E5-9546-CC5615FBC4A9}"/>
              </a:ext>
            </a:extLst>
          </p:cNvPr>
          <p:cNvSpPr txBox="1"/>
          <p:nvPr/>
        </p:nvSpPr>
        <p:spPr>
          <a:xfrm>
            <a:off x="115061" y="1952167"/>
            <a:ext cx="12192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void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clear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();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    </a:t>
            </a:r>
            <a:r>
              <a:rPr lang="en-US" dirty="0">
                <a:latin typeface="Abadi" panose="020B0604020104020204" pitchFamily="34" charset="0"/>
              </a:rPr>
              <a:t> 			/** Remove all of the entries from this map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containsKey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		</a:t>
            </a:r>
            <a:r>
              <a:rPr lang="en-US" dirty="0">
                <a:latin typeface="Abadi" panose="020B0604020104020204" pitchFamily="34" charset="0"/>
              </a:rPr>
              <a:t>/** Return true if the specified key is in the map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containsValue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 		</a:t>
            </a:r>
            <a:r>
              <a:rPr lang="en-US" dirty="0">
                <a:latin typeface="Abadi" panose="020B0604020104020204" pitchFamily="34" charset="0"/>
              </a:rPr>
              <a:t>/** Return true if this map contains the specified value */   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TASK 1    </a:t>
            </a:r>
            <a:r>
              <a:rPr lang="en-US" dirty="0">
                <a:latin typeface="Abadi" panose="020B0604020104020204" pitchFamily="34" charset="0"/>
              </a:rPr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FF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java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util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Set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&lt;Entry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&lt;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&gt;&gt;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entrySet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	</a:t>
            </a:r>
            <a:r>
              <a:rPr lang="en-US" dirty="0">
                <a:latin typeface="Abadi" panose="020B0604020104020204" pitchFamily="34" charset="0"/>
              </a:rPr>
              <a:t>/** Return a set of entries in the map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java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util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&lt;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&gt;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keySet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();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		</a:t>
            </a:r>
            <a:r>
              <a:rPr lang="en-US" dirty="0">
                <a:latin typeface="Abadi" panose="020B0604020104020204" pitchFamily="34" charset="0"/>
              </a:rPr>
              <a:t>/** Return a set consisting of the keys in this map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   </a:t>
            </a:r>
            <a:r>
              <a:rPr lang="en-US" dirty="0">
                <a:latin typeface="Abadi" panose="020B0604020104020204" pitchFamily="34" charset="0"/>
              </a:rPr>
              <a:t>  			/** Return the first value that matches the specified key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isEmpty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();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			</a:t>
            </a:r>
            <a:r>
              <a:rPr lang="en-US" dirty="0">
                <a:latin typeface="Abadi" panose="020B0604020104020204" pitchFamily="34" charset="0"/>
              </a:rPr>
              <a:t>/** Return true if this map contains no entries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+ 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put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 			</a:t>
            </a:r>
            <a:r>
              <a:rPr lang="en-US" dirty="0">
                <a:latin typeface="Abadi" panose="020B0604020104020204" pitchFamily="34" charset="0"/>
              </a:rPr>
              <a:t>/** Add an entry (key, value) into the map */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 TASK 3   </a:t>
            </a:r>
            <a:r>
              <a:rPr lang="en-US" dirty="0">
                <a:latin typeface="Abadi" panose="020B0604020104020204" pitchFamily="34" charset="0"/>
              </a:rPr>
              <a:t>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void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remove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 			</a:t>
            </a:r>
            <a:r>
              <a:rPr lang="en-US" dirty="0">
                <a:latin typeface="Abadi" panose="020B0604020104020204" pitchFamily="34" charset="0"/>
              </a:rPr>
              <a:t>/** Remove the entries for the specified key */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 TASK 2   </a:t>
            </a:r>
            <a:r>
              <a:rPr lang="en-US" dirty="0">
                <a:latin typeface="Abadi" panose="020B0604020104020204" pitchFamily="34" charset="0"/>
              </a:rPr>
              <a:t>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int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size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();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				</a:t>
            </a:r>
            <a:r>
              <a:rPr lang="en-US" dirty="0">
                <a:latin typeface="Abadi" panose="020B0604020104020204" pitchFamily="34" charset="0"/>
              </a:rPr>
              <a:t>/** Return the number of mappings in this map */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267F99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java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util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&lt;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&gt;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values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(); 		</a:t>
            </a:r>
            <a:r>
              <a:rPr lang="en-US" dirty="0">
                <a:latin typeface="Abadi" panose="020B0604020104020204" pitchFamily="34" charset="0"/>
              </a:rPr>
              <a:t>/** Return a set consisting of the values in this map */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 TASK 5   </a:t>
            </a:r>
            <a:r>
              <a:rPr lang="en-US" dirty="0">
                <a:latin typeface="Abadi" panose="020B0604020104020204" pitchFamily="34" charset="0"/>
              </a:rPr>
              <a:t>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String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toString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267F99"/>
              </a:solidFill>
              <a:latin typeface="Abadi" panose="020B0604020104020204" pitchFamily="34" charset="0"/>
            </a:endParaRPr>
          </a:p>
          <a:p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getKey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**</a:t>
            </a: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Abadi" panose="020B0604020104020204" pitchFamily="34" charset="0"/>
              </a:rPr>
              <a:t>getValue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</a:t>
            </a:r>
            <a:r>
              <a:rPr lang="en-US" b="1" dirty="0">
                <a:solidFill>
                  <a:srgbClr val="C00000"/>
                </a:solidFill>
                <a:latin typeface="Abadi" panose="020B0604020104020204" pitchFamily="34" charset="0"/>
              </a:rPr>
              <a:t> **</a:t>
            </a: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+  </a:t>
            </a:r>
            <a:r>
              <a:rPr lang="en-US" dirty="0">
                <a:solidFill>
                  <a:srgbClr val="0F4A85"/>
                </a:solidFill>
                <a:latin typeface="Abadi" panose="020B0604020104020204" pitchFamily="34" charset="0"/>
              </a:rPr>
              <a:t>private</a:t>
            </a: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185E73"/>
                </a:solidFill>
                <a:latin typeface="Abadi" panose="020B0604020104020204" pitchFamily="34" charset="0"/>
              </a:rPr>
              <a:t>void</a:t>
            </a: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5E2CBC"/>
                </a:solidFill>
                <a:latin typeface="Abadi" panose="020B0604020104020204" pitchFamily="34" charset="0"/>
              </a:rPr>
              <a:t>rehash</a:t>
            </a: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()   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TASK 4</a:t>
            </a:r>
            <a:endParaRPr lang="en-US" dirty="0">
              <a:solidFill>
                <a:srgbClr val="292929"/>
              </a:solidFill>
              <a:latin typeface="Abadi" panose="020B0604020104020204" pitchFamily="34" charset="0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71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8EF8-06E3-33C2-7148-E3D2C64B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DFB42C-9E7B-B218-1BBC-215452D7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>
                <a:solidFill>
                  <a:srgbClr val="0070C0"/>
                </a:solidFill>
                <a:latin typeface="+mn-lt"/>
              </a:rPr>
              <a:t>         </a:t>
            </a:r>
            <a:r>
              <a:rPr lang="en-US" sz="3600" b="1">
                <a:solidFill>
                  <a:srgbClr val="0070C0"/>
                </a:solidFill>
                <a:latin typeface="+mn-lt"/>
              </a:rPr>
              <a:t>Implementing Hash Tables</a:t>
            </a:r>
            <a:r>
              <a:rPr lang="en-US" sz="2800">
                <a:solidFill>
                  <a:srgbClr val="0070C0"/>
                </a:solidFill>
                <a:latin typeface="+mn-lt"/>
              </a:rPr>
              <a:t>  (b)</a:t>
            </a:r>
            <a:br>
              <a:rPr lang="en-US" sz="2800">
                <a:solidFill>
                  <a:srgbClr val="0070C0"/>
                </a:solidFill>
                <a:latin typeface="+mn-lt"/>
              </a:rPr>
            </a:br>
            <a:r>
              <a:rPr lang="en-US" sz="2800">
                <a:solidFill>
                  <a:srgbClr val="0070C0"/>
                </a:solidFill>
                <a:latin typeface="+mn-lt"/>
              </a:rPr>
              <a:t>                  </a:t>
            </a:r>
            <a:endParaRPr lang="en-US" sz="28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4036" name="Picture 19">
            <a:extLst>
              <a:ext uri="{FF2B5EF4-FFF2-40B4-BE49-F238E27FC236}">
                <a16:creationId xmlns:a16="http://schemas.microsoft.com/office/drawing/2014/main" id="{126AEE94-53C8-AA8B-C027-9C475E0F7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C0E1AF-4C2D-AD9B-1653-EDC418C39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347052"/>
              </p:ext>
            </p:extLst>
          </p:nvPr>
        </p:nvGraphicFramePr>
        <p:xfrm>
          <a:off x="173038" y="923467"/>
          <a:ext cx="11903901" cy="5934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3901">
                  <a:extLst>
                    <a:ext uri="{9D8B030D-6E8A-4147-A177-3AD203B41FA5}">
                      <a16:colId xmlns:a16="http://schemas.microsoft.com/office/drawing/2014/main" val="121795915"/>
                    </a:ext>
                  </a:extLst>
                </a:gridCol>
              </a:tblGrid>
              <a:tr h="5415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84491"/>
                  </a:ext>
                </a:extLst>
              </a:tr>
              <a:tr h="415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2329"/>
                  </a:ext>
                </a:extLst>
              </a:tr>
              <a:tr h="49777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9426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47D8B0-4E94-0314-EDB3-8DBAFCB6601B}"/>
              </a:ext>
            </a:extLst>
          </p:cNvPr>
          <p:cNvSpPr txBox="1"/>
          <p:nvPr/>
        </p:nvSpPr>
        <p:spPr>
          <a:xfrm>
            <a:off x="874713" y="1952167"/>
            <a:ext cx="60940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/** Define inner class for Entry */</a:t>
            </a:r>
          </a:p>
          <a:p>
            <a:r>
              <a:rPr lang="en-US" sz="2000" dirty="0">
                <a:latin typeface="Abadi" panose="020B0604020104020204" pitchFamily="34" charset="0"/>
              </a:rPr>
              <a:t>  public static class Entry&lt;K, V&gt; {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K key;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V value;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public Entry(K key, V value) {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</a:t>
            </a:r>
            <a:r>
              <a:rPr lang="en-US" sz="2000" dirty="0" err="1">
                <a:latin typeface="Abadi" panose="020B0604020104020204" pitchFamily="34" charset="0"/>
              </a:rPr>
              <a:t>this.key</a:t>
            </a:r>
            <a:r>
              <a:rPr lang="en-US" sz="2000" dirty="0">
                <a:latin typeface="Abadi" panose="020B0604020104020204" pitchFamily="34" charset="0"/>
              </a:rPr>
              <a:t> = key;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</a:t>
            </a:r>
            <a:r>
              <a:rPr lang="en-US" sz="2000" dirty="0" err="1">
                <a:latin typeface="Abadi" panose="020B0604020104020204" pitchFamily="34" charset="0"/>
              </a:rPr>
              <a:t>this.value</a:t>
            </a:r>
            <a:r>
              <a:rPr lang="en-US" sz="2000" dirty="0">
                <a:latin typeface="Abadi" panose="020B0604020104020204" pitchFamily="34" charset="0"/>
              </a:rPr>
              <a:t> = value;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}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public K </a:t>
            </a:r>
            <a:r>
              <a:rPr lang="en-US" sz="2000" dirty="0" err="1">
                <a:latin typeface="Abadi" panose="020B0604020104020204" pitchFamily="34" charset="0"/>
              </a:rPr>
              <a:t>getKey</a:t>
            </a:r>
            <a:r>
              <a:rPr lang="en-US" sz="2000" dirty="0">
                <a:latin typeface="Abadi" panose="020B0604020104020204" pitchFamily="34" charset="0"/>
              </a:rPr>
              <a:t>() {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return key;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}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public V </a:t>
            </a:r>
            <a:r>
              <a:rPr lang="en-US" sz="2000" dirty="0" err="1">
                <a:latin typeface="Abadi" panose="020B0604020104020204" pitchFamily="34" charset="0"/>
              </a:rPr>
              <a:t>getValue</a:t>
            </a:r>
            <a:r>
              <a:rPr lang="en-US" sz="2000" dirty="0">
                <a:latin typeface="Abadi" panose="020B0604020104020204" pitchFamily="34" charset="0"/>
              </a:rPr>
              <a:t>() {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return value;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0857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B77C-8DCD-32B4-BD4D-AB86937E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317524-E2D5-68EF-ABAD-37663D52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rgbClr val="0070C0"/>
                </a:solidFill>
                <a:latin typeface="+mn-lt"/>
              </a:rPr>
              <a:t>         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Implementing Hash Tables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 (c)</a:t>
            </a:r>
            <a:br>
              <a:rPr lang="en-US" sz="2800" dirty="0">
                <a:solidFill>
                  <a:srgbClr val="0070C0"/>
                </a:solidFill>
                <a:latin typeface="+mn-lt"/>
              </a:rPr>
            </a:br>
            <a:r>
              <a:rPr lang="en-US" sz="2800" dirty="0">
                <a:solidFill>
                  <a:srgbClr val="0070C0"/>
                </a:solidFill>
                <a:latin typeface="+mn-lt"/>
              </a:rPr>
              <a:t>                  </a:t>
            </a:r>
            <a:endParaRPr lang="en-US" sz="28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4036" name="Picture 19">
            <a:extLst>
              <a:ext uri="{FF2B5EF4-FFF2-40B4-BE49-F238E27FC236}">
                <a16:creationId xmlns:a16="http://schemas.microsoft.com/office/drawing/2014/main" id="{D781EE4A-E74A-BF7A-ACB5-7CE2A924F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ED0648-2EB0-521C-45DE-DB5C3D747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843563"/>
              </p:ext>
            </p:extLst>
          </p:nvPr>
        </p:nvGraphicFramePr>
        <p:xfrm>
          <a:off x="173038" y="986720"/>
          <a:ext cx="11903901" cy="3403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3901">
                  <a:extLst>
                    <a:ext uri="{9D8B030D-6E8A-4147-A177-3AD203B41FA5}">
                      <a16:colId xmlns:a16="http://schemas.microsoft.com/office/drawing/2014/main" val="121795915"/>
                    </a:ext>
                  </a:extLst>
                </a:gridCol>
              </a:tblGrid>
              <a:tr h="6730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MyHashMap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&lt;Key, Value&gt; implements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84491"/>
                  </a:ext>
                </a:extLst>
              </a:tr>
              <a:tr h="273079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23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48DAD0-988A-7334-CA9C-04124FB00E69}"/>
              </a:ext>
            </a:extLst>
          </p:cNvPr>
          <p:cNvSpPr txBox="1"/>
          <p:nvPr/>
        </p:nvSpPr>
        <p:spPr>
          <a:xfrm>
            <a:off x="257657" y="1712913"/>
            <a:ext cx="91757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static int DEFAULT_INITIAL_CAPACITY = 4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static int MAXIMUM_CAPACITY = 1 &lt;&lt; 30  (this = 2^30)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2400" dirty="0">
                <a:solidFill>
                  <a:schemeClr val="dk1"/>
                </a:solidFill>
                <a:latin typeface="Abadi" panose="020B0604020104020204" pitchFamily="34" charset="0"/>
              </a:rPr>
              <a:t>static float DEFAULT_MAX_LOAD_FACTOR = 0.75f</a:t>
            </a:r>
            <a:endParaRPr lang="en-US" sz="2400" b="0" kern="1200" dirty="0">
              <a:solidFill>
                <a:schemeClr val="dk1"/>
              </a:solidFill>
              <a:effectLst/>
              <a:latin typeface="Abadi" panose="020B0604020104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int  capacity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float   </a:t>
            </a:r>
            <a:r>
              <a:rPr lang="en-US" sz="2400" b="0" kern="1200" dirty="0" err="1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loadFactorThreshold</a:t>
            </a:r>
            <a:endParaRPr lang="en-US" sz="2400" b="0" kern="1200" dirty="0">
              <a:solidFill>
                <a:schemeClr val="dk1"/>
              </a:solidFill>
              <a:effectLst/>
              <a:latin typeface="Abadi" panose="020B0604020104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int size = 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400" b="0" kern="1200" dirty="0" err="1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MyLinkedList</a:t>
            </a: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&lt;</a:t>
            </a:r>
            <a:r>
              <a:rPr lang="en-US" sz="2400" b="0" kern="1200" dirty="0" err="1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MyMap.Entry</a:t>
            </a:r>
            <a:r>
              <a:rPr lang="en-US" sz="24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&lt;K,V&gt;&gt;[]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FB3B4-69F4-761B-E4A0-2EA3C78F7891}"/>
              </a:ext>
            </a:extLst>
          </p:cNvPr>
          <p:cNvSpPr txBox="1"/>
          <p:nvPr/>
        </p:nvSpPr>
        <p:spPr>
          <a:xfrm>
            <a:off x="5883217" y="4432543"/>
            <a:ext cx="6478546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// Default hash table size. Must be a power of 2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// Maximum hash table size. 1 &lt;&lt; 30 is same as 2^30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// Default load factor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Abadi" panose="020B0604020104020204" pitchFamily="34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Abadi" panose="020B0604020104020204" pitchFamily="34" charset="0"/>
              </a:rPr>
              <a:t>  // Current hash table capacity. Capacity is a power of 2</a:t>
            </a:r>
            <a:b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</a:br>
            <a:endParaRPr lang="en-US" b="1" dirty="0">
              <a:solidFill>
                <a:srgbClr val="0070C0"/>
              </a:solidFill>
              <a:effectLst/>
              <a:latin typeface="Abadi" panose="020B060402010402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// Load factor used in the hash table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 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// The number of entries in the map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  // Hash table is an array with each cell that is a linked list</a:t>
            </a:r>
          </a:p>
        </p:txBody>
      </p:sp>
    </p:spTree>
    <p:extLst>
      <p:ext uri="{BB962C8B-B14F-4D97-AF65-F5344CB8AC3E}">
        <p14:creationId xmlns:p14="http://schemas.microsoft.com/office/powerpoint/2010/main" val="120276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A577-8F1C-CDD0-E8C6-73B69EED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86AE7B1-997E-831E-C44C-420B581F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rgbClr val="0070C0"/>
                </a:solidFill>
                <a:latin typeface="+mn-lt"/>
              </a:rPr>
              <a:t>         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Implementing Hash Tables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 (d)</a:t>
            </a:r>
            <a:br>
              <a:rPr lang="en-US" sz="2800" dirty="0">
                <a:solidFill>
                  <a:srgbClr val="0070C0"/>
                </a:solidFill>
                <a:latin typeface="+mn-lt"/>
              </a:rPr>
            </a:br>
            <a:r>
              <a:rPr lang="en-US" sz="2800" dirty="0">
                <a:solidFill>
                  <a:srgbClr val="0070C0"/>
                </a:solidFill>
                <a:latin typeface="+mn-lt"/>
              </a:rPr>
              <a:t>                  </a:t>
            </a:r>
            <a:endParaRPr lang="en-US" sz="28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4036" name="Picture 19">
            <a:extLst>
              <a:ext uri="{FF2B5EF4-FFF2-40B4-BE49-F238E27FC236}">
                <a16:creationId xmlns:a16="http://schemas.microsoft.com/office/drawing/2014/main" id="{48735158-73A1-AEF3-658C-28825527D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81F8DB-9352-1C8B-0349-03F6FE61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328892"/>
              </p:ext>
            </p:extLst>
          </p:nvPr>
        </p:nvGraphicFramePr>
        <p:xfrm>
          <a:off x="288099" y="1059563"/>
          <a:ext cx="11903901" cy="5940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3901">
                  <a:extLst>
                    <a:ext uri="{9D8B030D-6E8A-4147-A177-3AD203B41FA5}">
                      <a16:colId xmlns:a16="http://schemas.microsoft.com/office/drawing/2014/main" val="121795915"/>
                    </a:ext>
                  </a:extLst>
                </a:gridCol>
              </a:tblGrid>
              <a:tr h="7341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MyHashMap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&lt;Key, Value&gt; implements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84491"/>
                  </a:ext>
                </a:extLst>
              </a:tr>
              <a:tr h="2310443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static int DEFAULT_INITIAL_CAPACITY = 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static int MAXIMUM_CAPACITY = 1 &lt;&lt; 30  (this = 2^30)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int capacity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static float DEFAULT_MAX_LOAD_FACTOR = 0.75f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float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loadFactorThreshold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int size = 0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MyLinkedList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MyMap.Entry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&lt;K,V&gt;&gt;[]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2329"/>
                  </a:ext>
                </a:extLst>
              </a:tr>
              <a:tr h="28961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9426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8814D7-8114-859A-B83A-1BDC4C64B9B1}"/>
              </a:ext>
            </a:extLst>
          </p:cNvPr>
          <p:cNvSpPr txBox="1"/>
          <p:nvPr/>
        </p:nvSpPr>
        <p:spPr>
          <a:xfrm>
            <a:off x="6404660" y="3737539"/>
            <a:ext cx="64750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DejaVu Sans Mono"/>
              </a:rPr>
              <a:t>+  int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>
                <a:solidFill>
                  <a:srgbClr val="795E26"/>
                </a:solidFill>
                <a:latin typeface="DejaVu Sans Mono"/>
              </a:rPr>
              <a:t>size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();</a:t>
            </a:r>
            <a:r>
              <a:rPr lang="en-US" dirty="0">
                <a:solidFill>
                  <a:srgbClr val="267F99"/>
                </a:solidFill>
                <a:latin typeface="DejaVu Sans Mono"/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**</a:t>
            </a:r>
            <a:endParaRPr lang="en-US" dirty="0">
              <a:solidFill>
                <a:srgbClr val="267F99"/>
              </a:solidFill>
              <a:latin typeface="DejaVu Sans Mono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DejaVu Sans Mono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DejaVu Sans Mono"/>
              </a:rPr>
              <a:t>isEmpty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();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DejaVu Sans Mono"/>
              </a:rPr>
              <a:t>+  void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>
                <a:solidFill>
                  <a:srgbClr val="795E26"/>
                </a:solidFill>
                <a:latin typeface="DejaVu Sans Mono"/>
              </a:rPr>
              <a:t>clear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();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DejaVu Sans Mono"/>
              </a:rPr>
              <a:t>+  V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>
                <a:solidFill>
                  <a:srgbClr val="795E26"/>
                </a:solidFill>
                <a:latin typeface="DejaVu Sans Mono"/>
              </a:rPr>
              <a:t>get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</a:t>
            </a:r>
            <a:r>
              <a:rPr lang="en-US" dirty="0">
                <a:solidFill>
                  <a:srgbClr val="267F99"/>
                </a:solidFill>
                <a:latin typeface="DejaVu Sans Mono"/>
              </a:rPr>
              <a:t>K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>
                <a:solidFill>
                  <a:srgbClr val="001080"/>
                </a:solidFill>
                <a:latin typeface="DejaVu Sans Mono"/>
              </a:rPr>
              <a:t>key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);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DejaVu Sans Mono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DejaVu Sans Mono"/>
              </a:rPr>
              <a:t>containsKey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</a:t>
            </a:r>
            <a:r>
              <a:rPr lang="en-US" dirty="0">
                <a:solidFill>
                  <a:srgbClr val="267F99"/>
                </a:solidFill>
                <a:latin typeface="DejaVu Sans Mono"/>
              </a:rPr>
              <a:t>K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>
                <a:solidFill>
                  <a:srgbClr val="001080"/>
                </a:solidFill>
                <a:latin typeface="DejaVu Sans Mono"/>
              </a:rPr>
              <a:t>key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);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endParaRPr lang="en-US" dirty="0"/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DejaVu Sans Mono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java</a:t>
            </a:r>
            <a:r>
              <a:rPr lang="en-US" dirty="0" err="1">
                <a:solidFill>
                  <a:srgbClr val="000000"/>
                </a:solidFill>
                <a:latin typeface="DejaVu Sans Mono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util</a:t>
            </a:r>
            <a:r>
              <a:rPr lang="en-US" dirty="0" err="1">
                <a:solidFill>
                  <a:srgbClr val="000000"/>
                </a:solidFill>
                <a:latin typeface="DejaVu Sans Mono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Set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&lt;</a:t>
            </a:r>
            <a:r>
              <a:rPr lang="en-US" dirty="0">
                <a:solidFill>
                  <a:srgbClr val="267F99"/>
                </a:solidFill>
                <a:latin typeface="DejaVu Sans Mono"/>
              </a:rPr>
              <a:t>K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&gt; </a:t>
            </a:r>
            <a:r>
              <a:rPr lang="en-US" dirty="0" err="1">
                <a:solidFill>
                  <a:srgbClr val="795E26"/>
                </a:solidFill>
                <a:latin typeface="DejaVu Sans Mono"/>
              </a:rPr>
              <a:t>keySet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();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java</a:t>
            </a:r>
            <a:r>
              <a:rPr lang="en-US" dirty="0" err="1">
                <a:solidFill>
                  <a:srgbClr val="000000"/>
                </a:solidFill>
                <a:latin typeface="DejaVu Sans Mono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util</a:t>
            </a:r>
            <a:r>
              <a:rPr lang="en-US" dirty="0" err="1">
                <a:solidFill>
                  <a:srgbClr val="000000"/>
                </a:solidFill>
                <a:latin typeface="DejaVu Sans Mono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DejaVu Sans Mono"/>
              </a:rPr>
              <a:t>Set</a:t>
            </a:r>
            <a:r>
              <a:rPr lang="en-US" dirty="0">
                <a:solidFill>
                  <a:srgbClr val="267F99"/>
                </a:solidFill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EntrySet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 </a:t>
            </a:r>
            <a:r>
              <a:rPr lang="en-US" b="1" dirty="0">
                <a:solidFill>
                  <a:srgbClr val="C00000"/>
                </a:solidFill>
              </a:rPr>
              <a:t>**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r>
              <a:rPr lang="en-US" dirty="0">
                <a:solidFill>
                  <a:srgbClr val="267F99"/>
                </a:solidFill>
                <a:latin typeface="DejaVu Sans Mono"/>
              </a:rPr>
              <a:t>+  K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DejaVu Sans Mono"/>
              </a:rPr>
              <a:t>getKey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r>
              <a:rPr lang="en-US" dirty="0">
                <a:solidFill>
                  <a:srgbClr val="267F99"/>
                </a:solidFill>
                <a:latin typeface="DejaVu Sans Mono"/>
              </a:rPr>
              <a:t>+  V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DejaVu Sans Mono"/>
              </a:rPr>
              <a:t>getValue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r>
              <a:rPr lang="en-US" dirty="0">
                <a:solidFill>
                  <a:srgbClr val="267F99"/>
                </a:solidFill>
                <a:latin typeface="DejaVu Sans Mono"/>
              </a:rPr>
              <a:t>+  String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DejaVu Sans Mono"/>
              </a:rPr>
              <a:t>toString</a:t>
            </a:r>
            <a:r>
              <a:rPr lang="en-US" dirty="0">
                <a:solidFill>
                  <a:srgbClr val="000000"/>
                </a:solidFill>
                <a:latin typeface="DejaVu Sans Mono"/>
              </a:rPr>
              <a:t>()</a:t>
            </a:r>
            <a:r>
              <a:rPr lang="en-US" b="1" dirty="0">
                <a:solidFill>
                  <a:srgbClr val="C00000"/>
                </a:solidFill>
              </a:rPr>
              <a:t> **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2022D-2221-0175-BFB3-3792F73146D4}"/>
              </a:ext>
            </a:extLst>
          </p:cNvPr>
          <p:cNvSpPr txBox="1"/>
          <p:nvPr/>
        </p:nvSpPr>
        <p:spPr>
          <a:xfrm>
            <a:off x="291881" y="4029928"/>
            <a:ext cx="53218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Abadi" panose="020B0604020104020204" pitchFamily="34" charset="0"/>
              </a:rPr>
              <a:t>+  </a:t>
            </a:r>
            <a:r>
              <a:rPr lang="en-US" sz="2000" b="0" kern="1200" dirty="0" err="1">
                <a:solidFill>
                  <a:schemeClr val="dk1"/>
                </a:solidFill>
                <a:effectLst/>
                <a:latin typeface="Abadi" panose="020B0604020104020204" pitchFamily="34" charset="0"/>
              </a:rPr>
              <a:t>MyHashMap</a:t>
            </a:r>
            <a:r>
              <a:rPr lang="en-US" sz="20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</a:rPr>
              <a:t>()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b="0" kern="1200" dirty="0">
              <a:solidFill>
                <a:schemeClr val="dk1"/>
              </a:solidFill>
              <a:effectLst/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Abadi" panose="020B0604020104020204" pitchFamily="34" charset="0"/>
              </a:rPr>
              <a:t>+  </a:t>
            </a:r>
            <a:r>
              <a:rPr lang="en-US" sz="2000" dirty="0" err="1">
                <a:latin typeface="Abadi" panose="020B0604020104020204" pitchFamily="34" charset="0"/>
              </a:rPr>
              <a:t>MyHashMap</a:t>
            </a:r>
            <a:r>
              <a:rPr lang="en-US" sz="2000" dirty="0">
                <a:latin typeface="Abadi" panose="020B0604020104020204" pitchFamily="34" charset="0"/>
              </a:rPr>
              <a:t>(int </a:t>
            </a:r>
            <a:r>
              <a:rPr lang="en-US" sz="2000" dirty="0" err="1">
                <a:latin typeface="Abadi" panose="020B0604020104020204" pitchFamily="34" charset="0"/>
              </a:rPr>
              <a:t>initialCapacity</a:t>
            </a:r>
            <a:r>
              <a:rPr lang="en-US" sz="2000" dirty="0">
                <a:latin typeface="Abadi" panose="020B0604020104020204" pitchFamily="34" charset="0"/>
              </a:rPr>
              <a:t>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dirty="0"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kern="1200" dirty="0">
                <a:solidFill>
                  <a:schemeClr val="dk1"/>
                </a:solidFill>
                <a:effectLst/>
                <a:latin typeface="Abadi" panose="020B0604020104020204" pitchFamily="34" charset="0"/>
              </a:rPr>
              <a:t>+  </a:t>
            </a:r>
            <a:r>
              <a:rPr lang="en-US" sz="2000" dirty="0">
                <a:latin typeface="Abadi" panose="020B0604020104020204" pitchFamily="34" charset="0"/>
              </a:rPr>
              <a:t>MyHashMap(int </a:t>
            </a:r>
            <a:r>
              <a:rPr lang="en-US" sz="2000" dirty="0" err="1">
                <a:latin typeface="Abadi" panose="020B0604020104020204" pitchFamily="34" charset="0"/>
              </a:rPr>
              <a:t>initialCapacity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Abadi" panose="020B0604020104020204" pitchFamily="34" charset="0"/>
              </a:rPr>
              <a:t>                       float </a:t>
            </a:r>
            <a:r>
              <a:rPr lang="en-US" sz="2000" dirty="0" err="1">
                <a:latin typeface="Abadi" panose="020B0604020104020204" pitchFamily="34" charset="0"/>
              </a:rPr>
              <a:t>loadFactorThreshold</a:t>
            </a:r>
            <a:r>
              <a:rPr lang="en-US" sz="2000" dirty="0">
                <a:latin typeface="Abadi" panose="020B0604020104020204" pitchFamily="34" charset="0"/>
              </a:rPr>
              <a:t>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dirty="0">
              <a:latin typeface="Abadi" panose="020B0604020104020204" pitchFamily="34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2000" dirty="0">
                <a:latin typeface="Abadi" panose="020B0604020104020204" pitchFamily="34" charset="0"/>
              </a:rPr>
              <a:t>int hash(int </a:t>
            </a:r>
            <a:r>
              <a:rPr lang="en-US" sz="2000" dirty="0" err="1">
                <a:latin typeface="Abadi" panose="020B0604020104020204" pitchFamily="34" charset="0"/>
              </a:rPr>
              <a:t>hashCode</a:t>
            </a:r>
            <a:r>
              <a:rPr lang="en-US" sz="2000" dirty="0">
                <a:latin typeface="Abadi" panose="020B0604020104020204" pitchFamily="34" charset="0"/>
              </a:rPr>
              <a:t>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dirty="0">
              <a:latin typeface="Abadi" panose="020B0604020104020204" pitchFamily="34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2000" dirty="0">
                <a:latin typeface="Abadi" panose="020B0604020104020204" pitchFamily="34" charset="0"/>
              </a:rPr>
              <a:t>static int </a:t>
            </a:r>
            <a:r>
              <a:rPr lang="en-US" sz="2000" dirty="0" err="1">
                <a:latin typeface="Abadi" panose="020B0604020104020204" pitchFamily="34" charset="0"/>
              </a:rPr>
              <a:t>supplementalHash</a:t>
            </a:r>
            <a:r>
              <a:rPr lang="en-US" sz="2000" dirty="0">
                <a:latin typeface="Abadi" panose="020B0604020104020204" pitchFamily="34" charset="0"/>
              </a:rPr>
              <a:t>(int h)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dirty="0">
              <a:latin typeface="Abadi" panose="020B0604020104020204" pitchFamily="34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2000" dirty="0">
                <a:latin typeface="Abadi" panose="020B0604020104020204" pitchFamily="34" charset="0"/>
              </a:rPr>
              <a:t>int trimToPowerOf2(int </a:t>
            </a:r>
            <a:r>
              <a:rPr lang="en-US" sz="2000" dirty="0" err="1">
                <a:latin typeface="Abadi" panose="020B0604020104020204" pitchFamily="34" charset="0"/>
              </a:rPr>
              <a:t>initialCapacity</a:t>
            </a:r>
            <a:r>
              <a:rPr lang="en-US" sz="2000" dirty="0">
                <a:latin typeface="Abadi" panose="020B0604020104020204" pitchFamily="34" charset="0"/>
              </a:rPr>
              <a:t>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dirty="0">
              <a:latin typeface="Abadi" panose="020B0604020104020204" pitchFamily="34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2000" dirty="0">
                <a:latin typeface="Abadi" panose="020B0604020104020204" pitchFamily="34" charset="0"/>
              </a:rPr>
              <a:t>void </a:t>
            </a:r>
            <a:r>
              <a:rPr lang="en-US" sz="2000" dirty="0" err="1">
                <a:latin typeface="Abadi" panose="020B0604020104020204" pitchFamily="34" charset="0"/>
              </a:rPr>
              <a:t>removeEntries</a:t>
            </a:r>
            <a:r>
              <a:rPr lang="en-US" sz="2000" dirty="0">
                <a:latin typeface="Abadi" panose="020B0604020104020204" pitchFamily="34" charset="0"/>
              </a:rPr>
              <a:t>()</a:t>
            </a:r>
            <a:r>
              <a:rPr lang="en-US" sz="2000" b="1" dirty="0">
                <a:solidFill>
                  <a:srgbClr val="C00000"/>
                </a:solidFill>
              </a:rPr>
              <a:t> **</a:t>
            </a:r>
            <a:endParaRPr lang="en-US" sz="2000" dirty="0">
              <a:latin typeface="Abadi" panose="020B06040201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EBCF0-DA66-B28C-000A-B4C90166A7BC}"/>
              </a:ext>
            </a:extLst>
          </p:cNvPr>
          <p:cNvSpPr txBox="1"/>
          <p:nvPr/>
        </p:nvSpPr>
        <p:spPr>
          <a:xfrm>
            <a:off x="10750344" y="5934671"/>
            <a:ext cx="1688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**provided in Lecture 14 starter code</a:t>
            </a:r>
          </a:p>
        </p:txBody>
      </p:sp>
    </p:spTree>
    <p:extLst>
      <p:ext uri="{BB962C8B-B14F-4D97-AF65-F5344CB8AC3E}">
        <p14:creationId xmlns:p14="http://schemas.microsoft.com/office/powerpoint/2010/main" val="23549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7BA3B-97DF-6FB6-1504-B855CABE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9A3BDB7-CB70-6B98-982A-A8A976DF7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rgbClr val="0070C0"/>
                </a:solidFill>
                <a:latin typeface="+mn-lt"/>
              </a:rPr>
              <a:t>         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Implementing Hash Tables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  (e)</a:t>
            </a:r>
            <a:br>
              <a:rPr lang="en-US" sz="2800" dirty="0">
                <a:solidFill>
                  <a:srgbClr val="0070C0"/>
                </a:solidFill>
                <a:latin typeface="+mn-lt"/>
              </a:rPr>
            </a:br>
            <a:r>
              <a:rPr lang="en-US" sz="2800" dirty="0">
                <a:solidFill>
                  <a:srgbClr val="0070C0"/>
                </a:solidFill>
                <a:latin typeface="+mn-lt"/>
              </a:rPr>
              <a:t>                  </a:t>
            </a:r>
            <a:endParaRPr lang="en-US" sz="28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4036" name="Picture 19">
            <a:extLst>
              <a:ext uri="{FF2B5EF4-FFF2-40B4-BE49-F238E27FC236}">
                <a16:creationId xmlns:a16="http://schemas.microsoft.com/office/drawing/2014/main" id="{599E8411-C446-4575-4930-A7F3968B8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B06DF3-1C19-5FAD-DCCE-999E92B32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318570"/>
              </p:ext>
            </p:extLst>
          </p:nvPr>
        </p:nvGraphicFramePr>
        <p:xfrm>
          <a:off x="288099" y="917272"/>
          <a:ext cx="11903901" cy="5940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3901">
                  <a:extLst>
                    <a:ext uri="{9D8B030D-6E8A-4147-A177-3AD203B41FA5}">
                      <a16:colId xmlns:a16="http://schemas.microsoft.com/office/drawing/2014/main" val="121795915"/>
                    </a:ext>
                  </a:extLst>
                </a:gridCol>
              </a:tblGrid>
              <a:tr h="7341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MyHashMap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&lt;Key, Value&gt; implements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MyMap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84491"/>
                  </a:ext>
                </a:extLst>
              </a:tr>
              <a:tr h="2310443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static int DEFAULT_INITIAL_CAPACITY = 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static int MAXIMUM_CAPACITY = 1 &lt;&lt; 30  (this = 2^30)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int capacity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static float DEFAULT_MAX_LOAD_FACTOR = 0.75f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float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loadFactorThreshold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int size = 0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MyLinkedList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MyMap.Entry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&lt;K,V&gt;&gt;[]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2329"/>
                  </a:ext>
                </a:extLst>
              </a:tr>
              <a:tr h="28961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have to write these: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9426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30DC71-A632-A287-0FED-94238C448828}"/>
              </a:ext>
            </a:extLst>
          </p:cNvPr>
          <p:cNvSpPr txBox="1"/>
          <p:nvPr/>
        </p:nvSpPr>
        <p:spPr>
          <a:xfrm>
            <a:off x="674346" y="4454795"/>
            <a:ext cx="5179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java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util</a:t>
            </a:r>
            <a:r>
              <a:rPr lang="en-US" dirty="0" err="1">
                <a:solidFill>
                  <a:srgbClr val="000000"/>
                </a:solidFill>
                <a:latin typeface="Abadi" panose="020B0604020104020204" pitchFamily="34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Abadi" panose="020B0604020104020204" pitchFamily="34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&lt;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&gt;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values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(); 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TASK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+  </a:t>
            </a:r>
            <a:r>
              <a:rPr lang="en-US" dirty="0">
                <a:solidFill>
                  <a:srgbClr val="0F4A85"/>
                </a:solidFill>
                <a:latin typeface="Abadi" panose="020B0604020104020204" pitchFamily="34" charset="0"/>
              </a:rPr>
              <a:t>private</a:t>
            </a: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185E73"/>
                </a:solidFill>
                <a:latin typeface="Abadi" panose="020B0604020104020204" pitchFamily="34" charset="0"/>
              </a:rPr>
              <a:t>void</a:t>
            </a: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5E2CBC"/>
                </a:solidFill>
                <a:latin typeface="Abadi" panose="020B0604020104020204" pitchFamily="34" charset="0"/>
              </a:rPr>
              <a:t>rehash</a:t>
            </a:r>
            <a:r>
              <a:rPr lang="en-US" dirty="0">
                <a:solidFill>
                  <a:srgbClr val="292929"/>
                </a:solidFill>
                <a:latin typeface="Abadi" panose="020B0604020104020204" pitchFamily="34" charset="0"/>
              </a:rPr>
              <a:t>()   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TASK 3</a:t>
            </a:r>
            <a:endParaRPr lang="en-US" dirty="0">
              <a:solidFill>
                <a:srgbClr val="292929"/>
              </a:solidFill>
              <a:latin typeface="Abadi" panose="020B0604020104020204" pitchFamily="34" charset="0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+  void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remove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    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TASK 1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+  </a:t>
            </a:r>
            <a:r>
              <a:rPr lang="en-US" dirty="0">
                <a:solidFill>
                  <a:srgbClr val="795E26"/>
                </a:solidFill>
                <a:latin typeface="Abadi" panose="020B0604020104020204" pitchFamily="34" charset="0"/>
              </a:rPr>
              <a:t>put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  <a:r>
              <a:rPr lang="en-US" dirty="0">
                <a:solidFill>
                  <a:srgbClr val="267F99"/>
                </a:solidFill>
                <a:latin typeface="Abadi" panose="020B0604020104020204" pitchFamily="34" charset="0"/>
              </a:rPr>
              <a:t>V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Abadi" panose="020B0604020104020204" pitchFamily="34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Abadi" panose="020B0604020104020204" pitchFamily="34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Abadi" panose="020B0604020104020204" pitchFamily="34" charset="0"/>
              </a:rPr>
              <a:t>    TASK 2</a:t>
            </a: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86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2A9E4-4F57-447E-B110-B86F2D49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4622C9-F8BF-38C0-0F75-9FA59382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</a:t>
            </a:r>
            <a:r>
              <a:rPr lang="en-US" b="1" dirty="0" err="1">
                <a:latin typeface="+mn-lt"/>
              </a:rPr>
              <a:t>keySet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E554A6D1-7C4D-EDA2-F476-F484991D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CCDCE4-04A1-D579-8FF5-41B9306834C5}"/>
              </a:ext>
            </a:extLst>
          </p:cNvPr>
          <p:cNvSpPr txBox="1"/>
          <p:nvPr/>
        </p:nvSpPr>
        <p:spPr>
          <a:xfrm>
            <a:off x="523875" y="1517650"/>
            <a:ext cx="10665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none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create a new HashSet of K (key) type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for each entry in the table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look at each linked list entry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add each value to the new set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59A7B-8554-EA3A-BFD5-2C7FBFD93998}"/>
              </a:ext>
            </a:extLst>
          </p:cNvPr>
          <p:cNvSpPr txBox="1"/>
          <p:nvPr/>
        </p:nvSpPr>
        <p:spPr>
          <a:xfrm>
            <a:off x="652291" y="3154181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fr-FR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fr-FR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fr-FR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fr-FR" dirty="0" err="1">
                <a:solidFill>
                  <a:srgbClr val="795E26"/>
                </a:solidFill>
                <a:latin typeface="DejaVu Sans Mono"/>
              </a:rPr>
              <a:t>KeySet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C2C42-48B3-5BE8-F742-FC6247B4408B}"/>
              </a:ext>
            </a:extLst>
          </p:cNvPr>
          <p:cNvSpPr txBox="1"/>
          <p:nvPr/>
        </p:nvSpPr>
        <p:spPr>
          <a:xfrm>
            <a:off x="523875" y="3441680"/>
            <a:ext cx="98756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DejaVu Sans Mono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66954-7034-D64C-1195-25B3B2F4F85C}"/>
              </a:ext>
            </a:extLst>
          </p:cNvPr>
          <p:cNvSpPr txBox="1"/>
          <p:nvPr/>
        </p:nvSpPr>
        <p:spPr>
          <a:xfrm>
            <a:off x="4190231" y="3825974"/>
            <a:ext cx="60980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//create the HashSet </a:t>
            </a:r>
            <a:r>
              <a:rPr lang="en-US" dirty="0">
                <a:solidFill>
                  <a:srgbClr val="008000"/>
                </a:solidFill>
                <a:latin typeface="DejaVu Sans Mono"/>
              </a:rPr>
              <a:t>to hold keys</a:t>
            </a:r>
          </a:p>
          <a:p>
            <a:pPr>
              <a:buNone/>
            </a:pPr>
            <a:endParaRPr lang="en-US" b="0" dirty="0">
              <a:solidFill>
                <a:srgbClr val="008000"/>
              </a:solidFill>
              <a:effectLst/>
              <a:latin typeface="DejaVu Sans Mono"/>
            </a:endParaRP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//for each entry in the table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//get the </a:t>
            </a:r>
            <a:r>
              <a:rPr lang="en-US" dirty="0" err="1">
                <a:solidFill>
                  <a:srgbClr val="008000"/>
                </a:solidFill>
                <a:latin typeface="DejaVu Sans Mono"/>
              </a:rPr>
              <a:t>linkedList</a:t>
            </a:r>
            <a:r>
              <a:rPr lang="en-US" dirty="0">
                <a:solidFill>
                  <a:srgbClr val="008000"/>
                </a:solidFill>
                <a:latin typeface="DejaVu Sans Mono"/>
              </a:rPr>
              <a:t> for the entry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   for every entry in the </a:t>
            </a:r>
            <a:r>
              <a:rPr lang="en-US" dirty="0" err="1">
                <a:solidFill>
                  <a:srgbClr val="008000"/>
                </a:solidFill>
                <a:latin typeface="DejaVu Sans Mono"/>
              </a:rPr>
              <a:t>linkedList</a:t>
            </a: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     add Key to the set</a:t>
            </a: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endParaRPr lang="en-US" b="0" dirty="0">
              <a:solidFill>
                <a:srgbClr val="008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//return the set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CEC5F-880E-A380-223C-61513FDE1D44}"/>
              </a:ext>
            </a:extLst>
          </p:cNvPr>
          <p:cNvSpPr txBox="1"/>
          <p:nvPr/>
        </p:nvSpPr>
        <p:spPr>
          <a:xfrm>
            <a:off x="4962646" y="929947"/>
            <a:ext cx="682327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MyLinkedList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MyMap</a:t>
            </a:r>
            <a:r>
              <a:rPr lang="en-US" sz="2400" b="1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&gt;&gt;[] </a:t>
            </a:r>
            <a:r>
              <a:rPr lang="en-US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15350-9233-543D-F88B-DD20153CA5F6}"/>
              </a:ext>
            </a:extLst>
          </p:cNvPr>
          <p:cNvSpPr txBox="1"/>
          <p:nvPr/>
        </p:nvSpPr>
        <p:spPr>
          <a:xfrm>
            <a:off x="7538013" y="5764966"/>
            <a:ext cx="44880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7030A0"/>
                </a:solidFill>
                <a:latin typeface="DejaVu Sans Mono"/>
              </a:rPr>
              <a:t>NOTE: </a:t>
            </a:r>
          </a:p>
          <a:p>
            <a:pPr>
              <a:buNone/>
            </a:pPr>
            <a:r>
              <a:rPr lang="en-US" dirty="0">
                <a:solidFill>
                  <a:srgbClr val="7030A0"/>
                </a:solidFill>
                <a:latin typeface="DejaVu Sans Mono"/>
              </a:rPr>
              <a:t>in our case, each TV Show will have the same ‘key’ (number of seasons)</a:t>
            </a:r>
            <a:endParaRPr lang="en-US" b="0" dirty="0">
              <a:solidFill>
                <a:srgbClr val="7030A0"/>
              </a:solidFill>
              <a:effectLst/>
              <a:latin typeface="DejaVu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250053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uiExpand="1" build="p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695B-85A8-4778-57E6-CA9FCC5B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A7B642A-20A7-A070-200C-AC94AEDE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</a:t>
            </a:r>
            <a:r>
              <a:rPr lang="en-US" b="1" dirty="0" err="1">
                <a:latin typeface="+mn-lt"/>
              </a:rPr>
              <a:t>keySet</a:t>
            </a:r>
            <a:r>
              <a:rPr lang="en-US" b="1" dirty="0">
                <a:latin typeface="+mn-lt"/>
              </a:rPr>
              <a:t> Solution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9A6895AC-83AF-EDC8-3C97-DE30FBEC2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9B1E0-F208-20FC-6EB5-8E7150AEA133}"/>
              </a:ext>
            </a:extLst>
          </p:cNvPr>
          <p:cNvSpPr txBox="1"/>
          <p:nvPr/>
        </p:nvSpPr>
        <p:spPr>
          <a:xfrm>
            <a:off x="523875" y="1517650"/>
            <a:ext cx="10665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none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create a new HashSet of K (key) type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for each entry in the table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look at each linked list entry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add each value to the new set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48643-1A3E-F860-B32E-7AE9C3C84507}"/>
              </a:ext>
            </a:extLst>
          </p:cNvPr>
          <p:cNvSpPr txBox="1"/>
          <p:nvPr/>
        </p:nvSpPr>
        <p:spPr>
          <a:xfrm>
            <a:off x="652291" y="3154181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fr-FR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fr-FR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fr-FR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fr-FR" dirty="0" err="1">
                <a:solidFill>
                  <a:srgbClr val="795E26"/>
                </a:solidFill>
                <a:latin typeface="DejaVu Sans Mono"/>
              </a:rPr>
              <a:t>KeySet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C3954-75AC-838D-BFCE-149F8D93169E}"/>
              </a:ext>
            </a:extLst>
          </p:cNvPr>
          <p:cNvSpPr txBox="1"/>
          <p:nvPr/>
        </p:nvSpPr>
        <p:spPr>
          <a:xfrm>
            <a:off x="523875" y="3441680"/>
            <a:ext cx="98756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&lt;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 !=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   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5AC2E-8BFB-7D40-31D3-F480F33D94DE}"/>
              </a:ext>
            </a:extLst>
          </p:cNvPr>
          <p:cNvSpPr txBox="1"/>
          <p:nvPr/>
        </p:nvSpPr>
        <p:spPr>
          <a:xfrm>
            <a:off x="7546889" y="3551155"/>
            <a:ext cx="60980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//create the HashSet </a:t>
            </a:r>
            <a:r>
              <a:rPr lang="en-US" dirty="0">
                <a:solidFill>
                  <a:srgbClr val="008000"/>
                </a:solidFill>
                <a:latin typeface="DejaVu Sans Mono"/>
              </a:rPr>
              <a:t>to hold keys</a:t>
            </a:r>
          </a:p>
          <a:p>
            <a:pPr>
              <a:buNone/>
            </a:pPr>
            <a:endParaRPr lang="en-US" b="0" dirty="0">
              <a:solidFill>
                <a:srgbClr val="008000"/>
              </a:solidFill>
              <a:effectLst/>
              <a:latin typeface="DejaVu Sans Mono"/>
            </a:endParaRP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//for each entry in the table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//get the </a:t>
            </a:r>
            <a:r>
              <a:rPr lang="en-US" dirty="0" err="1">
                <a:solidFill>
                  <a:srgbClr val="008000"/>
                </a:solidFill>
                <a:latin typeface="DejaVu Sans Mono"/>
              </a:rPr>
              <a:t>linkedList</a:t>
            </a:r>
            <a:r>
              <a:rPr lang="en-US" dirty="0">
                <a:solidFill>
                  <a:srgbClr val="008000"/>
                </a:solidFill>
                <a:latin typeface="DejaVu Sans Mono"/>
              </a:rPr>
              <a:t> for the entry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   for every entry in the </a:t>
            </a:r>
            <a:r>
              <a:rPr lang="en-US" dirty="0" err="1">
                <a:solidFill>
                  <a:srgbClr val="008000"/>
                </a:solidFill>
                <a:latin typeface="DejaVu Sans Mono"/>
              </a:rPr>
              <a:t>linkedList</a:t>
            </a: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     add Key to the set</a:t>
            </a: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endParaRPr lang="en-US" b="0" dirty="0">
              <a:solidFill>
                <a:srgbClr val="008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//return the set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CC14F-A30B-3D9C-B108-E33F3A2BED3E}"/>
              </a:ext>
            </a:extLst>
          </p:cNvPr>
          <p:cNvSpPr txBox="1"/>
          <p:nvPr/>
        </p:nvSpPr>
        <p:spPr>
          <a:xfrm>
            <a:off x="4962646" y="929947"/>
            <a:ext cx="682327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MyLinkedList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MyMap</a:t>
            </a:r>
            <a:r>
              <a:rPr lang="en-US" sz="2400" b="1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&gt;&gt;[] </a:t>
            </a:r>
            <a:r>
              <a:rPr lang="en-US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0080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C086-1553-14D6-EC8A-370D3CBA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CAF184A-4747-6DEC-F3C9-C63F4238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get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42503F12-4250-7242-3EBA-E886363E1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A4DE72-729B-0BA7-0006-05C51FE7359B}"/>
              </a:ext>
            </a:extLst>
          </p:cNvPr>
          <p:cNvSpPr txBox="1"/>
          <p:nvPr/>
        </p:nvSpPr>
        <p:spPr>
          <a:xfrm>
            <a:off x="4962646" y="929947"/>
            <a:ext cx="682327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MyLinkedList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MyMap</a:t>
            </a:r>
            <a:r>
              <a:rPr lang="en-US" sz="2400" b="1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&gt;&gt;[] </a:t>
            </a:r>
            <a:r>
              <a:rPr lang="en-US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400" b="1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9A13D-56B0-AD75-DE6A-BF52A8510D5E}"/>
              </a:ext>
            </a:extLst>
          </p:cNvPr>
          <p:cNvSpPr txBox="1"/>
          <p:nvPr/>
        </p:nvSpPr>
        <p:spPr>
          <a:xfrm>
            <a:off x="874713" y="1861168"/>
            <a:ext cx="860867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</a:t>
            </a:r>
            <a:r>
              <a:rPr lang="en-US" sz="2000" b="0" dirty="0">
                <a:solidFill>
                  <a:srgbClr val="515151"/>
                </a:solidFill>
                <a:effectLst/>
                <a:latin typeface="Abadi" panose="020B0604020104020204" pitchFamily="34" charset="0"/>
              </a:rPr>
              <a:t>//PRE:  accepts a key value</a:t>
            </a:r>
            <a:endParaRPr lang="en-US" sz="2000" b="0" dirty="0">
              <a:solidFill>
                <a:srgbClr val="292929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</a:t>
            </a:r>
            <a:r>
              <a:rPr lang="en-US" sz="2000" b="0" dirty="0">
                <a:solidFill>
                  <a:srgbClr val="515151"/>
                </a:solidFill>
                <a:effectLst/>
                <a:latin typeface="Abadi" panose="020B0604020104020204" pitchFamily="34" charset="0"/>
              </a:rPr>
              <a:t>//POST: returns the value(s) that matches the specified key.</a:t>
            </a:r>
            <a:endParaRPr lang="en-US" sz="2000" b="0" dirty="0">
              <a:solidFill>
                <a:srgbClr val="292929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</a:t>
            </a:r>
            <a:r>
              <a:rPr lang="en-US" sz="2000" b="0" dirty="0">
                <a:solidFill>
                  <a:srgbClr val="515151"/>
                </a:solidFill>
                <a:effectLst/>
                <a:latin typeface="Abadi" panose="020B0604020104020204" pitchFamily="34" charset="0"/>
              </a:rPr>
              <a:t>//      if not found, returns null</a:t>
            </a:r>
            <a:endParaRPr lang="en-US" sz="2000" b="0" dirty="0">
              <a:solidFill>
                <a:srgbClr val="292929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</a:t>
            </a:r>
            <a:r>
              <a:rPr lang="en-US" sz="2000" b="0" dirty="0">
                <a:solidFill>
                  <a:srgbClr val="0F4A85"/>
                </a:solidFill>
                <a:effectLst/>
                <a:latin typeface="Abadi" panose="020B0604020104020204" pitchFamily="34" charset="0"/>
              </a:rPr>
              <a:t>public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V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5E2CBC"/>
                </a:solidFill>
                <a:effectLst/>
                <a:latin typeface="Abadi" panose="020B0604020104020204" pitchFamily="34" charset="0"/>
              </a:rPr>
              <a:t>get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(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K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key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) {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int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bucketIndex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=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5E2CBC"/>
                </a:solidFill>
                <a:effectLst/>
                <a:latin typeface="Abadi" panose="020B0604020104020204" pitchFamily="34" charset="0"/>
              </a:rPr>
              <a:t>hash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key</a:t>
            </a:r>
            <a:r>
              <a:rPr lang="en-US" sz="2000" b="0" dirty="0" err="1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.</a:t>
            </a:r>
            <a:r>
              <a:rPr lang="en-US" sz="2000" b="0" dirty="0" err="1">
                <a:solidFill>
                  <a:srgbClr val="5E2CBC"/>
                </a:solidFill>
                <a:effectLst/>
                <a:latin typeface="Abadi" panose="020B0604020104020204" pitchFamily="34" charset="0"/>
              </a:rPr>
              <a:t>hashCode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());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</a:t>
            </a:r>
            <a:r>
              <a:rPr lang="en-US" sz="2000" b="0" dirty="0">
                <a:solidFill>
                  <a:srgbClr val="B5200D"/>
                </a:solidFill>
                <a:effectLst/>
                <a:latin typeface="Abadi" panose="020B0604020104020204" pitchFamily="34" charset="0"/>
              </a:rPr>
              <a:t>if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(table[</a:t>
            </a:r>
            <a:r>
              <a:rPr lang="en-US" sz="2000" b="0" dirty="0" err="1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bucketIndex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] </a:t>
            </a:r>
            <a:r>
              <a:rPr lang="en-US" sz="2000" b="0" dirty="0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!=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0F4A85"/>
                </a:solidFill>
                <a:effectLst/>
                <a:latin typeface="Abadi" panose="020B0604020104020204" pitchFamily="34" charset="0"/>
              </a:rPr>
              <a:t>null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) {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  </a:t>
            </a:r>
            <a:r>
              <a:rPr lang="en-US" sz="2000" b="0" dirty="0" err="1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MyLinkedList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&lt;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Entry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&lt;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K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V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&gt;&gt; </a:t>
            </a:r>
            <a:r>
              <a:rPr lang="en-US" sz="2000" b="0" dirty="0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bucket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=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table[</a:t>
            </a:r>
            <a:r>
              <a:rPr lang="en-US" sz="2000" b="0" dirty="0" err="1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bucketIndex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]; 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  </a:t>
            </a:r>
            <a:r>
              <a:rPr lang="en-US" sz="2000" b="0" dirty="0">
                <a:solidFill>
                  <a:srgbClr val="B5200D"/>
                </a:solidFill>
                <a:effectLst/>
                <a:latin typeface="Abadi" panose="020B0604020104020204" pitchFamily="34" charset="0"/>
              </a:rPr>
              <a:t>for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(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Entry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&lt;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K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en-US" sz="2000" b="0" dirty="0">
                <a:solidFill>
                  <a:srgbClr val="185E73"/>
                </a:solidFill>
                <a:effectLst/>
                <a:latin typeface="Abadi" panose="020B0604020104020204" pitchFamily="34" charset="0"/>
              </a:rPr>
              <a:t>V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&gt; </a:t>
            </a:r>
            <a:r>
              <a:rPr lang="en-US" sz="2000" b="0" dirty="0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entry</a:t>
            </a:r>
            <a:r>
              <a:rPr lang="en-US" sz="2000" b="0" dirty="0">
                <a:solidFill>
                  <a:srgbClr val="B5200D"/>
                </a:solidFill>
                <a:effectLst/>
                <a:latin typeface="Abadi" panose="020B0604020104020204" pitchFamily="34" charset="0"/>
              </a:rPr>
              <a:t>: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bucket)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    </a:t>
            </a:r>
            <a:r>
              <a:rPr lang="en-US" sz="2000" b="0" dirty="0">
                <a:solidFill>
                  <a:srgbClr val="B5200D"/>
                </a:solidFill>
                <a:effectLst/>
                <a:latin typeface="Abadi" panose="020B0604020104020204" pitchFamily="34" charset="0"/>
              </a:rPr>
              <a:t>if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entry</a:t>
            </a:r>
            <a:r>
              <a:rPr lang="en-US" sz="2000" b="0" dirty="0" err="1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.</a:t>
            </a:r>
            <a:r>
              <a:rPr lang="en-US" sz="2000" b="0" dirty="0" err="1">
                <a:solidFill>
                  <a:srgbClr val="5E2CBC"/>
                </a:solidFill>
                <a:effectLst/>
                <a:latin typeface="Abadi" panose="020B0604020104020204" pitchFamily="34" charset="0"/>
              </a:rPr>
              <a:t>getKey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().</a:t>
            </a:r>
            <a:r>
              <a:rPr lang="en-US" sz="2000" b="0" dirty="0">
                <a:solidFill>
                  <a:srgbClr val="5E2CBC"/>
                </a:solidFill>
                <a:effectLst/>
                <a:latin typeface="Abadi" panose="020B0604020104020204" pitchFamily="34" charset="0"/>
              </a:rPr>
              <a:t>equals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(key)) 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      </a:t>
            </a:r>
            <a:r>
              <a:rPr lang="en-US" sz="2000" b="0" dirty="0">
                <a:solidFill>
                  <a:srgbClr val="B5200D"/>
                </a:solidFill>
                <a:effectLst/>
                <a:latin typeface="Abadi" panose="020B0604020104020204" pitchFamily="34" charset="0"/>
              </a:rPr>
              <a:t>return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Abadi" panose="020B0604020104020204" pitchFamily="34" charset="0"/>
              </a:rPr>
              <a:t>entry</a:t>
            </a:r>
            <a:r>
              <a:rPr lang="en-US" sz="2000" b="0" dirty="0" err="1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.</a:t>
            </a:r>
            <a:r>
              <a:rPr lang="en-US" sz="2000" b="0" dirty="0" err="1">
                <a:solidFill>
                  <a:srgbClr val="5E2CBC"/>
                </a:solidFill>
                <a:effectLst/>
                <a:latin typeface="Abadi" panose="020B0604020104020204" pitchFamily="34" charset="0"/>
              </a:rPr>
              <a:t>getValue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();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}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  </a:t>
            </a:r>
            <a:r>
              <a:rPr lang="en-US" sz="2000" b="0" dirty="0">
                <a:solidFill>
                  <a:srgbClr val="B5200D"/>
                </a:solidFill>
                <a:effectLst/>
                <a:latin typeface="Abadi" panose="020B0604020104020204" pitchFamily="34" charset="0"/>
              </a:rPr>
              <a:t>return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2000" b="0" dirty="0">
                <a:solidFill>
                  <a:srgbClr val="0F4A85"/>
                </a:solidFill>
                <a:effectLst/>
                <a:latin typeface="Abadi" panose="020B0604020104020204" pitchFamily="34" charset="0"/>
              </a:rPr>
              <a:t>null</a:t>
            </a: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292929"/>
                </a:solidFill>
                <a:effectLst/>
                <a:latin typeface="Abadi" panose="020B0604020104020204" pitchFamily="34" charset="0"/>
              </a:rPr>
              <a:t> 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79A93-13B5-C6F9-1D75-CF60725C13B4}"/>
              </a:ext>
            </a:extLst>
          </p:cNvPr>
          <p:cNvSpPr txBox="1"/>
          <p:nvPr/>
        </p:nvSpPr>
        <p:spPr>
          <a:xfrm>
            <a:off x="7806031" y="3135179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//get index of key </a:t>
            </a: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//get the reference for the linked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      list at the index</a:t>
            </a:r>
            <a:endParaRPr lang="en-US" b="0" dirty="0">
              <a:solidFill>
                <a:srgbClr val="008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//for each entry in the table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   if (entry’s key == key) 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//        return the value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1E5B2-7412-7957-5087-9DF1FAEAA30A}"/>
              </a:ext>
            </a:extLst>
          </p:cNvPr>
          <p:cNvSpPr txBox="1"/>
          <p:nvPr/>
        </p:nvSpPr>
        <p:spPr>
          <a:xfrm>
            <a:off x="7607461" y="5731773"/>
            <a:ext cx="44880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7030A0"/>
                </a:solidFill>
                <a:latin typeface="DejaVu Sans Mono"/>
              </a:rPr>
              <a:t>NOTE: </a:t>
            </a:r>
          </a:p>
          <a:p>
            <a:pPr>
              <a:buNone/>
            </a:pPr>
            <a:r>
              <a:rPr lang="en-US" dirty="0">
                <a:solidFill>
                  <a:srgbClr val="7030A0"/>
                </a:solidFill>
                <a:latin typeface="DejaVu Sans Mono"/>
              </a:rPr>
              <a:t>in our case, each TV Show will have the same ‘key’ (number of seasons)</a:t>
            </a:r>
            <a:endParaRPr lang="en-US" b="0" dirty="0">
              <a:solidFill>
                <a:srgbClr val="7030A0"/>
              </a:solidFill>
              <a:effectLst/>
              <a:latin typeface="DejaVu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275714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uiExpand="1" build="p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531B92-7B62-6CEB-CA44-859C9142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49F88B-6D8C-A41C-D1D8-3000314C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06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1:  </a:t>
            </a:r>
            <a:r>
              <a:rPr lang="en-US" b="1" dirty="0" err="1">
                <a:latin typeface="+mn-lt"/>
              </a:rPr>
              <a:t>containsValue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FA2B6C96-6882-FBF1-2368-F769A085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527631-61EB-C3B8-09B9-CD681C97005F}"/>
              </a:ext>
            </a:extLst>
          </p:cNvPr>
          <p:cNvSpPr txBox="1"/>
          <p:nvPr/>
        </p:nvSpPr>
        <p:spPr>
          <a:xfrm>
            <a:off x="643485" y="1712913"/>
            <a:ext cx="1113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accepts the value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reviews each table entry (and linked list in each entry) to find value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08A39-AB77-CED9-5AD1-1CBC87D352AC}"/>
              </a:ext>
            </a:extLst>
          </p:cNvPr>
          <p:cNvSpPr txBox="1"/>
          <p:nvPr/>
        </p:nvSpPr>
        <p:spPr>
          <a:xfrm>
            <a:off x="874713" y="2718702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containsValue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8544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3463A2-E9D7-64DC-A260-51915E9F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B117C3-E7A6-66A2-487F-254B84A8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06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1:  </a:t>
            </a:r>
            <a:r>
              <a:rPr lang="en-US" b="1" dirty="0" err="1">
                <a:latin typeface="+mn-lt"/>
              </a:rPr>
              <a:t>containsValue</a:t>
            </a:r>
            <a:r>
              <a:rPr lang="en-US" b="1" dirty="0">
                <a:latin typeface="+mn-lt"/>
              </a:rPr>
              <a:t> Solution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119E832D-C148-2857-7581-76F7DCB23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E0F48A-677F-82DE-C902-6BDCC9CCBE8E}"/>
              </a:ext>
            </a:extLst>
          </p:cNvPr>
          <p:cNvSpPr txBox="1"/>
          <p:nvPr/>
        </p:nvSpPr>
        <p:spPr>
          <a:xfrm>
            <a:off x="643485" y="1712913"/>
            <a:ext cx="1113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accepts the value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reviews each table entry (and linked list in each entry) to find value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7338E-9E6B-735A-1891-6FCFDEB561FE}"/>
              </a:ext>
            </a:extLst>
          </p:cNvPr>
          <p:cNvSpPr txBox="1"/>
          <p:nvPr/>
        </p:nvSpPr>
        <p:spPr>
          <a:xfrm>
            <a:off x="643485" y="2497766"/>
            <a:ext cx="101969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@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/** Return true if this map contains the value */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containsValue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&lt;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 !=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().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equals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))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111822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DA45-9CD5-AAEF-39B0-F20B9AE30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11B71E-B0FB-4618-63B9-04E18241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06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1:  remove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A2BDF211-1DC2-B840-4178-25FB3DFA5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504CE5-37FC-CC89-F98C-38D744630C96}"/>
              </a:ext>
            </a:extLst>
          </p:cNvPr>
          <p:cNvSpPr txBox="1"/>
          <p:nvPr/>
        </p:nvSpPr>
        <p:spPr>
          <a:xfrm>
            <a:off x="643485" y="1712913"/>
            <a:ext cx="106656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accepts the key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uses the hash function to get LinkedList associated with entry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searches linked list for item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if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found, removes item using remove function (from linked list)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7E086-7A91-6321-9C6F-EBA7E5559FA9}"/>
              </a:ext>
            </a:extLst>
          </p:cNvPr>
          <p:cNvSpPr txBox="1"/>
          <p:nvPr/>
        </p:nvSpPr>
        <p:spPr>
          <a:xfrm>
            <a:off x="728306" y="3151145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remove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8459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97F-3BE1-F6C9-6DB8-57085AE0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B95FA55-1CC0-7886-6C2C-CCB25555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2:  put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F2C66D7E-4612-820E-68D8-FD7B5D73A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6287ED-D76B-40E1-B07D-C436A4AAF3C5}"/>
              </a:ext>
            </a:extLst>
          </p:cNvPr>
          <p:cNvSpPr txBox="1"/>
          <p:nvPr/>
        </p:nvSpPr>
        <p:spPr>
          <a:xfrm>
            <a:off x="643485" y="1712913"/>
            <a:ext cx="1066564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accepts a key &amp; value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determines if key exists in the table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   if so, update the value at the key location to the new value</a:t>
            </a:r>
          </a:p>
          <a:p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return the </a:t>
            </a:r>
            <a:r>
              <a:rPr lang="en-US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oldValue</a:t>
            </a:r>
            <a:endParaRPr lang="en-US" sz="18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determine if the table needs to be resized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get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tableIndex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for the key</a:t>
            </a:r>
          </a:p>
          <a:p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if table is null there, create an empty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linkedList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at </a:t>
            </a:r>
            <a:r>
              <a:rPr lang="en-US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tableIndex</a:t>
            </a:r>
            <a:endParaRPr lang="en-US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//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     add new entry to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linkedList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at the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tableIndex</a:t>
            </a:r>
            <a:endParaRPr lang="en-US" sz="18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update size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return value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6F5F9-9692-83AB-E272-91F55B44C4F9}"/>
              </a:ext>
            </a:extLst>
          </p:cNvPr>
          <p:cNvSpPr txBox="1"/>
          <p:nvPr/>
        </p:nvSpPr>
        <p:spPr>
          <a:xfrm>
            <a:off x="412664" y="5145087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5862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ADA2-32EC-8E79-0A47-084F8E8E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053298F-9BD0-2670-D6FC-64E3B8B8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3:  rehash </a:t>
            </a:r>
            <a:r>
              <a:rPr lang="en-US" sz="3500" dirty="0">
                <a:latin typeface="+mn-lt"/>
              </a:rPr>
              <a:t> </a:t>
            </a: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1A897580-B7E9-4CAA-DBA0-9D5872FBF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EC0087-072E-F9CD-5992-1E0E36E5C93E}"/>
              </a:ext>
            </a:extLst>
          </p:cNvPr>
          <p:cNvSpPr txBox="1"/>
          <p:nvPr/>
        </p:nvSpPr>
        <p:spPr>
          <a:xfrm>
            <a:off x="643485" y="1712913"/>
            <a:ext cx="106656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none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it is determined the table needs to be resized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the table is copied into a set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the table is cleared &amp; resized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items from the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set are ‘put’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into the new table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2FB85-CBBC-1794-BDA2-9C77FAE306F8}"/>
              </a:ext>
            </a:extLst>
          </p:cNvPr>
          <p:cNvSpPr txBox="1"/>
          <p:nvPr/>
        </p:nvSpPr>
        <p:spPr>
          <a:xfrm>
            <a:off x="724508" y="3606828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rehash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59372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1C89D-B459-9328-48E0-9E54B70F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2CC81C-0135-E7A3-E5F7-E19102BBD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4:  values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0B5BFCD5-EBB3-1821-FEDA-E5163352E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5D3708-BEDE-B457-6BBD-E587D2080305}"/>
              </a:ext>
            </a:extLst>
          </p:cNvPr>
          <p:cNvSpPr txBox="1"/>
          <p:nvPr/>
        </p:nvSpPr>
        <p:spPr>
          <a:xfrm>
            <a:off x="643485" y="1712913"/>
            <a:ext cx="10665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none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create a new HashSet of V (value) type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for each entry in the table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look at each linked list entry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add each value to the new set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64918-A8A4-A4B5-5B49-57D23E197896}"/>
              </a:ext>
            </a:extLst>
          </p:cNvPr>
          <p:cNvSpPr txBox="1"/>
          <p:nvPr/>
        </p:nvSpPr>
        <p:spPr>
          <a:xfrm>
            <a:off x="758966" y="3642116"/>
            <a:ext cx="6098058" cy="27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fr-FR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fr-FR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fr-FR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fr-FR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fr-FR" b="0" dirty="0">
                <a:solidFill>
                  <a:srgbClr val="795E26"/>
                </a:solidFill>
                <a:effectLst/>
                <a:latin typeface="DejaVu Sans Mono"/>
              </a:rPr>
              <a:t>values</a:t>
            </a:r>
            <a:r>
              <a:rPr lang="fr-FR" b="0" dirty="0">
                <a:solidFill>
                  <a:srgbClr val="000000"/>
                </a:solidFill>
                <a:effectLst/>
                <a:latin typeface="DejaVu Sa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48412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0EC90F-EB73-0781-AC7E-89E89BF4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B6B142-12C4-10D5-9F27-60F5CB5E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06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1:  remove Solution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FC6082D7-2C5B-C2D1-2B93-205FB9D36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FB295B-CE90-17A5-FDA0-85070AB9243C}"/>
              </a:ext>
            </a:extLst>
          </p:cNvPr>
          <p:cNvSpPr txBox="1"/>
          <p:nvPr/>
        </p:nvSpPr>
        <p:spPr>
          <a:xfrm>
            <a:off x="643485" y="1712913"/>
            <a:ext cx="106656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accepts the key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uses the hash function to get LinkedList associated with entry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searches linked list for item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if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found, removes item using remove function (from linked list)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43E2-8911-4F6B-11B2-F774726E8E6B}"/>
              </a:ext>
            </a:extLst>
          </p:cNvPr>
          <p:cNvSpPr txBox="1"/>
          <p:nvPr/>
        </p:nvSpPr>
        <p:spPr>
          <a:xfrm>
            <a:off x="750672" y="2757754"/>
            <a:ext cx="112600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remove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hashCode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Remove the first entry that matches the key from a bucket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 !=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().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equals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remove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--;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Decrease size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Remove just one entry that matches the key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464445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18A5AD-B147-AB26-B42A-24333946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3A1FBA6-C022-5125-540D-BE198314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2568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TASK 2:  put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667F6B43-19CB-9E47-A140-CCAF27E5E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67387B-A6CA-527C-E31B-6C61D32B2CF4}"/>
              </a:ext>
            </a:extLst>
          </p:cNvPr>
          <p:cNvSpPr txBox="1"/>
          <p:nvPr/>
        </p:nvSpPr>
        <p:spPr>
          <a:xfrm>
            <a:off x="-308876" y="1225689"/>
            <a:ext cx="83036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DejaVu Sans Mono"/>
              </a:rPr>
              <a:t>    // The key is already in the map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!=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hashCode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().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equals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oldValue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oldValue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Check load factor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&gt;=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*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loadFactorThreshold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MAXIMUM_CAPACITY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RuntimeException</a:t>
            </a:r>
            <a:endParaRPr lang="en-US" b="0" dirty="0">
              <a:solidFill>
                <a:srgbClr val="795E26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dirty="0">
                <a:solidFill>
                  <a:srgbClr val="795E26"/>
                </a:solidFill>
                <a:latin typeface="DejaVu Sans Mono"/>
              </a:rPr>
              <a:t>                   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DejaVu Sans Mono"/>
              </a:rPr>
              <a:t>"Exceeding maximum capacity"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rehash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21D68-5943-2DD7-F57C-0FBA58CFE849}"/>
              </a:ext>
            </a:extLst>
          </p:cNvPr>
          <p:cNvSpPr txBox="1"/>
          <p:nvPr/>
        </p:nvSpPr>
        <p:spPr>
          <a:xfrm>
            <a:off x="6215449" y="4041844"/>
            <a:ext cx="62525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hashCode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 ==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 =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 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DejaVu Sans Mono"/>
              </a:rPr>
              <a:t>              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bucketIndex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].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add</a:t>
            </a:r>
          </a:p>
          <a:p>
            <a:pPr>
              <a:buNone/>
            </a:pPr>
            <a:r>
              <a:rPr lang="en-US" dirty="0">
                <a:solidFill>
                  <a:srgbClr val="795E26"/>
                </a:solidFill>
                <a:latin typeface="DejaVu Sans Mono"/>
              </a:rPr>
              <a:t>          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MyMap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++;    </a:t>
            </a:r>
          </a:p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 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59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EC89EC-BC64-E389-1833-E9C10501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AD24686-25FF-0FD5-6D7B-B0C6AEB9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3:  rehash </a:t>
            </a:r>
            <a:r>
              <a:rPr lang="en-US" b="1" dirty="0"/>
              <a:t>Solution</a:t>
            </a:r>
            <a:r>
              <a:rPr lang="en-US" b="1" dirty="0">
                <a:latin typeface="+mn-lt"/>
              </a:rPr>
              <a:t> </a:t>
            </a:r>
            <a:r>
              <a:rPr lang="en-US" sz="3500" dirty="0">
                <a:latin typeface="+mn-lt"/>
              </a:rPr>
              <a:t> </a:t>
            </a: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43BB3874-F2FB-05F0-D63E-777F73D48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50C2C9-1773-BF91-E5B1-E8CB1515E100}"/>
              </a:ext>
            </a:extLst>
          </p:cNvPr>
          <p:cNvSpPr txBox="1"/>
          <p:nvPr/>
        </p:nvSpPr>
        <p:spPr>
          <a:xfrm>
            <a:off x="643485" y="1712913"/>
            <a:ext cx="106656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none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it is determined the table needs to be resized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the table is copied into a set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the table is cleared &amp; resized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items from the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set are ‘put’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into the new table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32659-B94C-3E90-41DE-3E9F87C611DA}"/>
              </a:ext>
            </a:extLst>
          </p:cNvPr>
          <p:cNvSpPr txBox="1"/>
          <p:nvPr/>
        </p:nvSpPr>
        <p:spPr>
          <a:xfrm>
            <a:off x="643485" y="3573616"/>
            <a:ext cx="109050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rehash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entrySet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();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Get entries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&lt;&lt;=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Double capacity    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]; 	 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Create a new hash table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Reset size to 0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getKey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(),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 	 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// Store to new table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4620851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0DF5EA-98F4-C39F-4C4F-FFBF2AF5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D2AA9C-8E0F-C89C-ED1E-E9611A81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TASK 4:  values </a:t>
            </a:r>
            <a:r>
              <a:rPr lang="en-US" sz="3600" b="1" dirty="0"/>
              <a:t>Solution</a:t>
            </a:r>
            <a:endParaRPr lang="en-US" sz="3500" dirty="0">
              <a:latin typeface="+mn-lt"/>
            </a:endParaRPr>
          </a:p>
        </p:txBody>
      </p:sp>
      <p:pic>
        <p:nvPicPr>
          <p:cNvPr id="48161" name="Picture 19">
            <a:extLst>
              <a:ext uri="{FF2B5EF4-FFF2-40B4-BE49-F238E27FC236}">
                <a16:creationId xmlns:a16="http://schemas.microsoft.com/office/drawing/2014/main" id="{65AA6420-DF74-C343-E274-D3C7070FD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3FB9CE-D5D3-427C-DFC2-2BE31DE69A94}"/>
              </a:ext>
            </a:extLst>
          </p:cNvPr>
          <p:cNvSpPr txBox="1"/>
          <p:nvPr/>
        </p:nvSpPr>
        <p:spPr>
          <a:xfrm>
            <a:off x="527872" y="1273175"/>
            <a:ext cx="10665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//PRE:  none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//POST: create a new HashSet of V (value) type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    for each entry in the table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look at each linked list entry</a:t>
            </a:r>
          </a:p>
          <a:p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</a:rPr>
              <a:t> //        add each value to the new set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BC8FB-20EF-D955-2727-EDAF7593C2DC}"/>
              </a:ext>
            </a:extLst>
          </p:cNvPr>
          <p:cNvSpPr txBox="1"/>
          <p:nvPr/>
        </p:nvSpPr>
        <p:spPr>
          <a:xfrm>
            <a:off x="527871" y="2861303"/>
            <a:ext cx="115485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@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DejaVu Sans Mono"/>
              </a:rPr>
              <a:t>/** Return a set consisting of the values in this map */</a:t>
            </a:r>
            <a:endParaRPr lang="en-US" b="0" dirty="0">
              <a:solidFill>
                <a:srgbClr val="000000"/>
              </a:solidFill>
              <a:effectLst/>
              <a:latin typeface="DejaVu Sans Mono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795E26"/>
                </a:solidFill>
                <a:effectLst/>
                <a:latin typeface="DejaVu Sans Mono"/>
              </a:rPr>
              <a:t>values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java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util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HashSet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&lt;&gt;();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DejaVu Sans Mono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&lt;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capacity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 != </a:t>
            </a:r>
            <a:r>
              <a:rPr lang="en-US" b="0" dirty="0">
                <a:solidFill>
                  <a:srgbClr val="0000FF"/>
                </a:solidFill>
                <a:effectLst/>
                <a:latin typeface="DejaVu Sans Mono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DejaVu Sans Mono"/>
              </a:rPr>
              <a:t>MyLinkedList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table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[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];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(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K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DejaVu Sans Mono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bucket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DejaVu Sans Mono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DejaVu Sans Mono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DejaVu Sans Mono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());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DejaVu Sans Mono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DejaVu Sans Mono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DejaVu Sans Mono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1340735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EEB5FF-6E6D-3FBD-88D0-817125C0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</a:t>
            </a:r>
            <a:r>
              <a:rPr lang="en-US" sz="3800" b="1" dirty="0">
                <a:latin typeface="+mn-lt"/>
              </a:rPr>
              <a:t>Hash Tables vs. Sorted Arrays and Binary Search Trees</a:t>
            </a:r>
            <a:endParaRPr lang="en-US" sz="3800" dirty="0">
              <a:latin typeface="+mn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E36E95-C290-DC23-95C0-BA208EF174BB}"/>
              </a:ext>
            </a:extLst>
          </p:cNvPr>
          <p:cNvGraphicFramePr>
            <a:graphicFrameLocks noGrp="1"/>
          </p:cNvGraphicFramePr>
          <p:nvPr/>
        </p:nvGraphicFramePr>
        <p:xfrm>
          <a:off x="312738" y="2033588"/>
          <a:ext cx="11353801" cy="3230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3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663"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Hash Tables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Sorted Arrays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Binary Search Trees (Unbalanced)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63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Insertion (on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average)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n)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 (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log n)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63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Search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(on average)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 (log 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 (log 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63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Insertion (worst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n)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63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Search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(worst)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 (log 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48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Overall Performance</a:t>
                      </a: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r>
                        <a:rPr lang="en-US" sz="2200" baseline="0" dirty="0">
                          <a:solidFill>
                            <a:schemeClr val="tx1"/>
                          </a:solidFill>
                        </a:rPr>
                        <a:t> is better than BST if L &lt; 0.75</a:t>
                      </a:r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91452" marR="91452" marT="45685" marB="4568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4552" name="Picture 19">
            <a:extLst>
              <a:ext uri="{FF2B5EF4-FFF2-40B4-BE49-F238E27FC236}">
                <a16:creationId xmlns:a16="http://schemas.microsoft.com/office/drawing/2014/main" id="{EED6B76B-957B-06B8-0121-EAB1D0F2E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97" name="TextBox 1">
            <a:extLst>
              <a:ext uri="{FF2B5EF4-FFF2-40B4-BE49-F238E27FC236}">
                <a16:creationId xmlns:a16="http://schemas.microsoft.com/office/drawing/2014/main" id="{3D205C4C-882B-CCAC-1206-E1D5C6E25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5737225"/>
            <a:ext cx="3333750" cy="3698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altLang="en-US" dirty="0"/>
              <a:t>Does that mean BSTs are useless?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69BD64-90A7-019D-10E9-E429F38C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68438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+mn-lt"/>
              </a:rPr>
              <a:t>         Usage of Hash Tables and Binary Search Trees</a:t>
            </a:r>
          </a:p>
        </p:txBody>
      </p:sp>
      <p:pic>
        <p:nvPicPr>
          <p:cNvPr id="66563" name="Picture 19">
            <a:extLst>
              <a:ext uri="{FF2B5EF4-FFF2-40B4-BE49-F238E27FC236}">
                <a16:creationId xmlns:a16="http://schemas.microsoft.com/office/drawing/2014/main" id="{6C69E62A-8D2F-171C-C913-87A4262C3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4475"/>
            <a:ext cx="7016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405E191-0D96-43B4-DE2D-B807A1252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946339"/>
              </p:ext>
            </p:extLst>
          </p:nvPr>
        </p:nvGraphicFramePr>
        <p:xfrm>
          <a:off x="569913" y="1935163"/>
          <a:ext cx="10809287" cy="4065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122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Data Structure</a:t>
                      </a:r>
                    </a:p>
                  </a:txBody>
                  <a:tcPr marL="91439" marR="91439" marT="45719" marB="45719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Usage</a:t>
                      </a:r>
                    </a:p>
                  </a:txBody>
                  <a:tcPr marL="91439" marR="91439" marT="45719" marB="45719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10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BST</a:t>
                      </a:r>
                    </a:p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9" marB="4571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9" marB="4571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211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Hash tables</a:t>
                      </a:r>
                    </a:p>
                    <a:p>
                      <a:r>
                        <a:rPr lang="en-US" sz="2800" baseline="0" dirty="0">
                          <a:solidFill>
                            <a:schemeClr val="tx1"/>
                          </a:solidFill>
                        </a:rPr>
                        <a:t>    (Hash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maps)</a:t>
                      </a:r>
                    </a:p>
                  </a:txBody>
                  <a:tcPr marL="91439" marR="91439" marT="45719" marB="4571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9" marB="45719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7CE3A2-3106-23FB-A41E-C418BCB0A0D9}"/>
              </a:ext>
            </a:extLst>
          </p:cNvPr>
          <p:cNvSpPr txBox="1"/>
          <p:nvPr/>
        </p:nvSpPr>
        <p:spPr>
          <a:xfrm>
            <a:off x="3963430" y="2589353"/>
            <a:ext cx="6098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Quick search, insertion, deletion (log 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Also good</a:t>
            </a:r>
            <a:r>
              <a:rPr lang="en-US" sz="2400" baseline="0" dirty="0">
                <a:solidFill>
                  <a:schemeClr val="tx1"/>
                </a:solidFill>
              </a:rPr>
              <a:t> when you want queries (items that start with, greater than, less than, range,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aseline="0" dirty="0">
                <a:solidFill>
                  <a:schemeClr val="tx1"/>
                </a:solidFill>
              </a:rPr>
              <a:t>Good when you want to retrieve a sorted list of items.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23059-8799-3DEA-39D3-C3B71E4B99A8}"/>
              </a:ext>
            </a:extLst>
          </p:cNvPr>
          <p:cNvSpPr txBox="1"/>
          <p:nvPr/>
        </p:nvSpPr>
        <p:spPr>
          <a:xfrm>
            <a:off x="3963430" y="4897677"/>
            <a:ext cx="7763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Fast access if key is known. Fast insertion</a:t>
            </a:r>
            <a:r>
              <a:rPr lang="en-US" sz="2400" baseline="0" dirty="0">
                <a:solidFill>
                  <a:schemeClr val="tx1"/>
                </a:solidFill>
              </a:rPr>
              <a:t> O(1) on average.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aseline="0" dirty="0">
                <a:solidFill>
                  <a:schemeClr val="tx1"/>
                </a:solidFill>
              </a:rPr>
              <a:t>Allow you to link objects by means of ids rather than 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aseline="0" dirty="0">
                <a:solidFill>
                  <a:schemeClr val="tx1"/>
                </a:solidFill>
              </a:rPr>
              <a:t>Otherwise, search is not fast. O (n)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10442</TotalTime>
  <Words>5920</Words>
  <Application>Microsoft Office PowerPoint</Application>
  <PresentationFormat>Widescreen</PresentationFormat>
  <Paragraphs>1147</Paragraphs>
  <Slides>47</Slides>
  <Notes>47</Notes>
  <HiddenSlides>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Abadi</vt:lpstr>
      <vt:lpstr>Arial</vt:lpstr>
      <vt:lpstr>Calibri</vt:lpstr>
      <vt:lpstr>Calibri Light</vt:lpstr>
      <vt:lpstr>Cambria Math</vt:lpstr>
      <vt:lpstr>Cascadia Mono</vt:lpstr>
      <vt:lpstr>Consolas</vt:lpstr>
      <vt:lpstr>Courier New</vt:lpstr>
      <vt:lpstr>DejaVu Sans Mono</vt:lpstr>
      <vt:lpstr>Office Theme</vt:lpstr>
      <vt:lpstr>Data Structures</vt:lpstr>
      <vt:lpstr>         Hash Tables</vt:lpstr>
      <vt:lpstr>         Hash Codes and Index Calculation</vt:lpstr>
      <vt:lpstr>         Hash Codes for Unicode Characters (1)</vt:lpstr>
      <vt:lpstr>         Hash Codes for Unicode Characters (2)</vt:lpstr>
      <vt:lpstr>         Functions for Generating Hash Codes (1)</vt:lpstr>
      <vt:lpstr>         Functions for Generating Hash Codes (2)</vt:lpstr>
      <vt:lpstr>         Qualities of the String Hash Function</vt:lpstr>
      <vt:lpstr>         Compressing Hash Codes   (a)</vt:lpstr>
      <vt:lpstr>         Compressing Hash Codes   (b)</vt:lpstr>
      <vt:lpstr>         Compressing Hash Codes (c)</vt:lpstr>
      <vt:lpstr>         Compressing Hash Codes   (d)</vt:lpstr>
      <vt:lpstr>         Compressing Hash Codes (e)</vt:lpstr>
      <vt:lpstr>         Compressing Hash Codes (f)</vt:lpstr>
      <vt:lpstr>         Ways to Resolve Collision</vt:lpstr>
      <vt:lpstr>         A:  Open Addressing - Linear Probing</vt:lpstr>
      <vt:lpstr>          A: Open Addressing (Linear Probing) – Example </vt:lpstr>
      <vt:lpstr>        A: Reducing Collisions by Expanding the Table Size</vt:lpstr>
      <vt:lpstr>          A:  Deleting an Item Using Open Addressing</vt:lpstr>
      <vt:lpstr>          A:  Traversing a Hash Table</vt:lpstr>
      <vt:lpstr>          A:  The Problem with Linear Probing</vt:lpstr>
      <vt:lpstr>        Quadratic Probing &amp; Double Hashing</vt:lpstr>
      <vt:lpstr>         B:  Chaining</vt:lpstr>
      <vt:lpstr>         Performance of Hash Tables</vt:lpstr>
      <vt:lpstr>         Task</vt:lpstr>
      <vt:lpstr>         Task: Rehash Table</vt:lpstr>
      <vt:lpstr>        Solution</vt:lpstr>
      <vt:lpstr>         Implementing Hash Tables  (a)                   </vt:lpstr>
      <vt:lpstr>         Implementing Hash Tables  (b)                   </vt:lpstr>
      <vt:lpstr>         Implementing Hash Tables  (c)                   </vt:lpstr>
      <vt:lpstr>         Implementing Hash Tables  (d)                   </vt:lpstr>
      <vt:lpstr>         Implementing Hash Tables  (e)                   </vt:lpstr>
      <vt:lpstr>         keySet</vt:lpstr>
      <vt:lpstr>         keySet Solution</vt:lpstr>
      <vt:lpstr>         get</vt:lpstr>
      <vt:lpstr>         TASK 1:  containsValue</vt:lpstr>
      <vt:lpstr>         TASK 1:  containsValue Solution</vt:lpstr>
      <vt:lpstr>         TASK 1:  remove</vt:lpstr>
      <vt:lpstr>         TASK 2:  put</vt:lpstr>
      <vt:lpstr>         TASK 3:  rehash  </vt:lpstr>
      <vt:lpstr>         TASK 4:  values</vt:lpstr>
      <vt:lpstr>         TASK 1:  remove Solution</vt:lpstr>
      <vt:lpstr>        TASK 2:  put</vt:lpstr>
      <vt:lpstr>         TASK 3:  rehash Solution  </vt:lpstr>
      <vt:lpstr>         TASK 4:  values Solution</vt:lpstr>
      <vt:lpstr>         Hash Tables vs. Sorted Arrays and Binary Search Trees</vt:lpstr>
      <vt:lpstr>         Usage of Hash Tables and Binary Search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Design</dc:title>
  <dc:creator>Mohammad A. Kuhail</dc:creator>
  <cp:lastModifiedBy>Gladbach, Joan</cp:lastModifiedBy>
  <cp:revision>498</cp:revision>
  <dcterms:created xsi:type="dcterms:W3CDTF">2013-08-18T19:25:38Z</dcterms:created>
  <dcterms:modified xsi:type="dcterms:W3CDTF">2026-08-18T13:55:13Z</dcterms:modified>
</cp:coreProperties>
</file>